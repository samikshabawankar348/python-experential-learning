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9" r:id="rId3"/>
    <p:sldId id="260" r:id="rId4"/>
    <p:sldId id="262" r:id="rId5"/>
    <p:sldId id="263" r:id="rId6"/>
    <p:sldId id="264" r:id="rId7"/>
    <p:sldId id="261" r:id="rId8"/>
    <p:sldId id="258" r:id="rId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 descr="$PPTXTitle">
            <a:extLst>
              <a:ext uri="{FF2B5EF4-FFF2-40B4-BE49-F238E27FC236}">
                <a16:creationId xmlns:a16="http://schemas.microsoft.com/office/drawing/2014/main" id="{32078CF6-ED61-3081-D810-A3C5505A4292}"/>
              </a:ext>
            </a:extLst>
          </p:cNvPr>
          <p:cNvSpPr txBox="1">
            <a:spLocks/>
          </p:cNvSpPr>
          <p:nvPr/>
        </p:nvSpPr>
        <p:spPr>
          <a:xfrm>
            <a:off x="1780588" y="256958"/>
            <a:ext cx="5923908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marR="5080">
              <a:spcBef>
                <a:spcPts val="100"/>
              </a:spcBef>
            </a:pP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lang="en-US"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lang="en-US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lang="en-US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lang="en-US"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lang="en-US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lang="en-US" sz="3200" dirty="0">
              <a:latin typeface="Times New Roman"/>
              <a:cs typeface="Times New Roman"/>
            </a:endParaRPr>
          </a:p>
          <a:p>
            <a:pPr marL="2540"/>
            <a:r>
              <a:rPr lang="en-US" sz="3200" dirty="0">
                <a:latin typeface="Times New Roman"/>
                <a:cs typeface="Times New Roman"/>
              </a:rPr>
              <a:t>“</a:t>
            </a:r>
            <a:r>
              <a:rPr lang="en-IN" sz="2800" dirty="0"/>
              <a:t>LIBRARY MANAGEMENT SYSTEM</a:t>
            </a:r>
            <a:r>
              <a:rPr lang="en-US" sz="3200" spc="-10" dirty="0">
                <a:latin typeface="Times New Roman"/>
                <a:cs typeface="Times New Roman"/>
              </a:rPr>
              <a:t>”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18FAE39F-8DF9-7A13-AF5B-CC4A57A75B91}"/>
              </a:ext>
            </a:extLst>
          </p:cNvPr>
          <p:cNvSpPr txBox="1"/>
          <p:nvPr/>
        </p:nvSpPr>
        <p:spPr>
          <a:xfrm>
            <a:off x="1444987" y="1999503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A127ECC0-5FD6-CAB5-36FD-061901F97131}"/>
              </a:ext>
            </a:extLst>
          </p:cNvPr>
          <p:cNvSpPr txBox="1"/>
          <p:nvPr/>
        </p:nvSpPr>
        <p:spPr>
          <a:xfrm>
            <a:off x="730045" y="3182959"/>
            <a:ext cx="3156155" cy="6412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r>
              <a:rPr lang="en-IN" sz="2000" b="1" spc="-25" dirty="0">
                <a:latin typeface="Times New Roman"/>
                <a:cs typeface="Times New Roman"/>
              </a:rPr>
              <a:t>:-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000" b="1" spc="-25" dirty="0">
                <a:latin typeface="Times New Roman"/>
                <a:cs typeface="Times New Roman"/>
              </a:rPr>
              <a:t>Samiksha K. Bawankar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35A83C5B-335D-24B0-9767-88FD82FA81F8}"/>
              </a:ext>
            </a:extLst>
          </p:cNvPr>
          <p:cNvSpPr txBox="1"/>
          <p:nvPr/>
        </p:nvSpPr>
        <p:spPr>
          <a:xfrm>
            <a:off x="6328341" y="3053623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 dirty="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 dirty="0">
              <a:latin typeface="Times New Roman"/>
              <a:cs typeface="Times New Roman"/>
            </a:endParaRPr>
          </a:p>
        </p:txBody>
      </p:sp>
      <p:pic>
        <p:nvPicPr>
          <p:cNvPr id="12" name="object 6">
            <a:extLst>
              <a:ext uri="{FF2B5EF4-FFF2-40B4-BE49-F238E27FC236}">
                <a16:creationId xmlns:a16="http://schemas.microsoft.com/office/drawing/2014/main" id="{D06A77FA-E5AB-4A26-D88B-05063DA79D3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6200" y="3032152"/>
            <a:ext cx="1455566" cy="1024411"/>
          </a:xfrm>
          <a:prstGeom prst="rect">
            <a:avLst/>
          </a:prstGeom>
        </p:spPr>
      </p:pic>
      <p:sp>
        <p:nvSpPr>
          <p:cNvPr id="13" name="object 7">
            <a:extLst>
              <a:ext uri="{FF2B5EF4-FFF2-40B4-BE49-F238E27FC236}">
                <a16:creationId xmlns:a16="http://schemas.microsoft.com/office/drawing/2014/main" id="{D9BE8093-A82C-A6B4-1E7E-9913351FAC9C}"/>
              </a:ext>
            </a:extLst>
          </p:cNvPr>
          <p:cNvSpPr txBox="1"/>
          <p:nvPr/>
        </p:nvSpPr>
        <p:spPr>
          <a:xfrm>
            <a:off x="1140287" y="4419600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Striped Right 10">
            <a:extLst>
              <a:ext uri="{FF2B5EF4-FFF2-40B4-BE49-F238E27FC236}">
                <a16:creationId xmlns:a16="http://schemas.microsoft.com/office/drawing/2014/main" id="{D5305CA9-462C-CA84-A043-25B340E6F418}"/>
              </a:ext>
            </a:extLst>
          </p:cNvPr>
          <p:cNvSpPr/>
          <p:nvPr/>
        </p:nvSpPr>
        <p:spPr>
          <a:xfrm>
            <a:off x="376084" y="381000"/>
            <a:ext cx="2819400" cy="1447800"/>
          </a:xfrm>
          <a:prstGeom prst="striped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📚 </a:t>
            </a:r>
            <a:r>
              <a:rPr lang="en-US" sz="24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Introduction</a:t>
            </a:r>
            <a:endParaRPr lang="en-US" sz="2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IN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ounded Rectangle 6">
            <a:extLst>
              <a:ext uri="{FF2B5EF4-FFF2-40B4-BE49-F238E27FC236}">
                <a16:creationId xmlns:a16="http://schemas.microsoft.com/office/drawing/2014/main" id="{3473817C-C89F-D000-144D-D76CC57412A8}"/>
              </a:ext>
            </a:extLst>
          </p:cNvPr>
          <p:cNvSpPr/>
          <p:nvPr/>
        </p:nvSpPr>
        <p:spPr>
          <a:xfrm>
            <a:off x="381000" y="1943100"/>
            <a:ext cx="6233160" cy="2971800"/>
          </a:xfrm>
          <a:prstGeom prst="roundRect">
            <a:avLst/>
          </a:prstGeom>
          <a:solidFill>
            <a:srgbClr val="142037"/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Python-based application</a:t>
            </a:r>
            <a:r>
              <a:rPr lang="en-US" dirty="0"/>
              <a:t> for automating library operations.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manage </a:t>
            </a:r>
            <a:r>
              <a:rPr lang="en-US" b="1" dirty="0"/>
              <a:t>books, members, and transactions</a:t>
            </a:r>
            <a:r>
              <a:rPr lang="en-US" dirty="0"/>
              <a:t> efficiently.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Allows librarians to </a:t>
            </a:r>
            <a:r>
              <a:rPr lang="en-US" b="1" dirty="0"/>
              <a:t>add, search, update, and remove books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member registration and management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</a:t>
            </a:r>
            <a:r>
              <a:rPr lang="en-US" b="1" dirty="0"/>
              <a:t>book issue and return</a:t>
            </a:r>
            <a:r>
              <a:rPr lang="en-US" dirty="0"/>
              <a:t> functionality.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Automatically </a:t>
            </a:r>
            <a:r>
              <a:rPr lang="en-US" b="1" dirty="0"/>
              <a:t>calculates overdue fines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a </a:t>
            </a:r>
            <a:r>
              <a:rPr lang="en-US" b="1" dirty="0"/>
              <a:t>complete transaction history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JSON file handling</a:t>
            </a:r>
            <a:r>
              <a:rPr lang="en-US" dirty="0"/>
              <a:t> for permanent data storage.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</a:t>
            </a:r>
            <a:r>
              <a:rPr lang="en-US" b="1" dirty="0"/>
              <a:t>manual work, errors, and time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a </a:t>
            </a:r>
            <a:r>
              <a:rPr lang="en-US" b="1" dirty="0"/>
              <a:t>simple and user-friendly menu-driven interface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35123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C7908EA7-6CD7-2DA0-CA09-BD64FC7C8355}"/>
              </a:ext>
            </a:extLst>
          </p:cNvPr>
          <p:cNvSpPr/>
          <p:nvPr/>
        </p:nvSpPr>
        <p:spPr>
          <a:xfrm>
            <a:off x="609600" y="304800"/>
            <a:ext cx="2819400" cy="1676400"/>
          </a:xfrm>
          <a:prstGeom prst="stripedRightArrow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  <a:p>
            <a:pPr algn="ctr"/>
            <a:r>
              <a:rPr lang="en-US" b="1" dirty="0"/>
              <a:t>🎯 </a:t>
            </a:r>
            <a:r>
              <a:rPr lang="en-US" sz="2400" b="1" dirty="0">
                <a:solidFill>
                  <a:schemeClr val="tx1"/>
                </a:solidFill>
              </a:rPr>
              <a:t>Objectives</a:t>
            </a:r>
            <a:endParaRPr lang="en-US" b="1" dirty="0">
              <a:solidFill>
                <a:schemeClr val="tx1"/>
              </a:solidFill>
            </a:endParaRPr>
          </a:p>
          <a:p>
            <a:pPr algn="ctr"/>
            <a:endParaRPr lang="en-IN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F321F12-0269-7E04-CE4B-7BC92F23983E}"/>
              </a:ext>
            </a:extLst>
          </p:cNvPr>
          <p:cNvSpPr/>
          <p:nvPr/>
        </p:nvSpPr>
        <p:spPr>
          <a:xfrm>
            <a:off x="304800" y="2133600"/>
            <a:ext cx="6477000" cy="30480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b="1" dirty="0"/>
              <a:t>automate library management</a:t>
            </a:r>
            <a:r>
              <a:rPr lang="en-US" dirty="0"/>
              <a:t> and reduce manual work.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efficiently </a:t>
            </a:r>
            <a:r>
              <a:rPr lang="en-US" b="1" dirty="0"/>
              <a:t>manage book records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b="1" dirty="0"/>
              <a:t>register and manage library members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provide quick </a:t>
            </a:r>
            <a:r>
              <a:rPr lang="en-US" b="1" dirty="0"/>
              <a:t>book search and availability checking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manage </a:t>
            </a:r>
            <a:r>
              <a:rPr lang="en-US" b="1" dirty="0"/>
              <a:t>book issuing and returning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b="1" dirty="0"/>
              <a:t>calculate overdue fines automatically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maintain accurate </a:t>
            </a:r>
            <a:r>
              <a:rPr lang="en-US" b="1" dirty="0"/>
              <a:t>transaction records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store data </a:t>
            </a:r>
            <a:r>
              <a:rPr lang="en-US" b="1" dirty="0"/>
              <a:t>permanently using JSON file handling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reduce </a:t>
            </a:r>
            <a:r>
              <a:rPr lang="en-US" b="1" dirty="0"/>
              <a:t>data entry errors and duplication</a:t>
            </a:r>
            <a:r>
              <a:rPr lang="en-US" dirty="0"/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 provide a </a:t>
            </a:r>
            <a:r>
              <a:rPr lang="en-US" b="1" dirty="0"/>
              <a:t>simple, user-friendly menu-driven interface</a:t>
            </a:r>
            <a:r>
              <a:rPr lang="en-US" dirty="0"/>
              <a:t>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23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3ECA9836-BBC2-C997-78DE-2D5F342AA5F7}"/>
              </a:ext>
            </a:extLst>
          </p:cNvPr>
          <p:cNvSpPr/>
          <p:nvPr/>
        </p:nvSpPr>
        <p:spPr>
          <a:xfrm>
            <a:off x="2590800" y="3485762"/>
            <a:ext cx="1353312" cy="1005840"/>
          </a:xfrm>
          <a:prstGeom prst="roundRect">
            <a:avLst/>
          </a:prstGeom>
          <a:solidFill>
            <a:srgbClr val="142037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0B5C6-C141-1B76-34ED-805F336A288D}"/>
              </a:ext>
            </a:extLst>
          </p:cNvPr>
          <p:cNvSpPr txBox="1"/>
          <p:nvPr/>
        </p:nvSpPr>
        <p:spPr>
          <a:xfrm>
            <a:off x="2695611" y="370979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SELECT OPERATION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8859ED-714C-ECF3-94BA-018421F3E135}"/>
              </a:ext>
            </a:extLst>
          </p:cNvPr>
          <p:cNvSpPr txBox="1"/>
          <p:nvPr/>
        </p:nvSpPr>
        <p:spPr>
          <a:xfrm>
            <a:off x="3944112" y="376008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5B5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7" name="Rounded Rectangle 18">
            <a:extLst>
              <a:ext uri="{FF2B5EF4-FFF2-40B4-BE49-F238E27FC236}">
                <a16:creationId xmlns:a16="http://schemas.microsoft.com/office/drawing/2014/main" id="{9E5D87A4-6316-D56B-5DC3-ED179E0CBA03}"/>
              </a:ext>
            </a:extLst>
          </p:cNvPr>
          <p:cNvSpPr/>
          <p:nvPr/>
        </p:nvSpPr>
        <p:spPr>
          <a:xfrm>
            <a:off x="4218432" y="3485762"/>
            <a:ext cx="1353312" cy="1005840"/>
          </a:xfrm>
          <a:prstGeom prst="roundRect">
            <a:avLst/>
          </a:prstGeom>
          <a:solidFill>
            <a:srgbClr val="142037"/>
          </a:solidFill>
          <a:ln>
            <a:solidFill>
              <a:srgbClr val="36BE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47D874-0126-8A7C-D905-7931DCD48798}"/>
              </a:ext>
            </a:extLst>
          </p:cNvPr>
          <p:cNvSpPr txBox="1"/>
          <p:nvPr/>
        </p:nvSpPr>
        <p:spPr>
          <a:xfrm>
            <a:off x="4291584" y="364121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UPDATE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3FBF0B-AD00-8A4F-E689-39EEBC19BAB8}"/>
              </a:ext>
            </a:extLst>
          </p:cNvPr>
          <p:cNvSpPr txBox="1"/>
          <p:nvPr/>
        </p:nvSpPr>
        <p:spPr>
          <a:xfrm>
            <a:off x="5608025" y="3824090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5B5C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E7534FA7-A7F9-0D54-33B1-9B66F250411A}"/>
              </a:ext>
            </a:extLst>
          </p:cNvPr>
          <p:cNvSpPr/>
          <p:nvPr/>
        </p:nvSpPr>
        <p:spPr>
          <a:xfrm>
            <a:off x="5846064" y="3485762"/>
            <a:ext cx="1353312" cy="1005840"/>
          </a:xfrm>
          <a:prstGeom prst="roundRect">
            <a:avLst/>
          </a:prstGeom>
          <a:solidFill>
            <a:srgbClr val="142037"/>
          </a:solidFill>
          <a:ln>
            <a:solidFill>
              <a:srgbClr val="F6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514DB1-30A9-72AD-6686-E2D10F93E3B9}"/>
              </a:ext>
            </a:extLst>
          </p:cNvPr>
          <p:cNvSpPr txBox="1"/>
          <p:nvPr/>
        </p:nvSpPr>
        <p:spPr>
          <a:xfrm>
            <a:off x="5919216" y="364121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SAVE JSON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C79595-A3EE-8F37-191E-7E862AAA7791}"/>
              </a:ext>
            </a:extLst>
          </p:cNvPr>
          <p:cNvSpPr txBox="1"/>
          <p:nvPr/>
        </p:nvSpPr>
        <p:spPr>
          <a:xfrm>
            <a:off x="7199376" y="376008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5B5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24">
            <a:extLst>
              <a:ext uri="{FF2B5EF4-FFF2-40B4-BE49-F238E27FC236}">
                <a16:creationId xmlns:a16="http://schemas.microsoft.com/office/drawing/2014/main" id="{20593D92-2742-96C4-49F2-1C7F2A880CFE}"/>
              </a:ext>
            </a:extLst>
          </p:cNvPr>
          <p:cNvSpPr/>
          <p:nvPr/>
        </p:nvSpPr>
        <p:spPr>
          <a:xfrm>
            <a:off x="7473696" y="3485762"/>
            <a:ext cx="1353312" cy="1005840"/>
          </a:xfrm>
          <a:prstGeom prst="roundRect">
            <a:avLst/>
          </a:prstGeom>
          <a:solidFill>
            <a:srgbClr val="14203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BA8290-3C72-3840-9279-13536B96DCD3}"/>
              </a:ext>
            </a:extLst>
          </p:cNvPr>
          <p:cNvSpPr txBox="1"/>
          <p:nvPr/>
        </p:nvSpPr>
        <p:spPr>
          <a:xfrm>
            <a:off x="7546848" y="364121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REPEAT / EXIT</a:t>
            </a:r>
          </a:p>
        </p:txBody>
      </p:sp>
      <p:sp>
        <p:nvSpPr>
          <p:cNvPr id="15" name="Rounded Rectangle 6">
            <a:extLst>
              <a:ext uri="{FF2B5EF4-FFF2-40B4-BE49-F238E27FC236}">
                <a16:creationId xmlns:a16="http://schemas.microsoft.com/office/drawing/2014/main" id="{FD0DDA47-5373-FE04-C75B-A84218CDF3EA}"/>
              </a:ext>
            </a:extLst>
          </p:cNvPr>
          <p:cNvSpPr/>
          <p:nvPr/>
        </p:nvSpPr>
        <p:spPr>
          <a:xfrm>
            <a:off x="471948" y="1720282"/>
            <a:ext cx="1353312" cy="1005840"/>
          </a:xfrm>
          <a:prstGeom prst="roundRect">
            <a:avLst/>
          </a:prstGeom>
          <a:solidFill>
            <a:srgbClr val="142037"/>
          </a:solidFill>
          <a:ln>
            <a:solidFill>
              <a:srgbClr val="489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E4FB477-6DA5-B488-9EDF-B8807C3AE5EB}"/>
              </a:ext>
            </a:extLst>
          </p:cNvPr>
          <p:cNvSpPr txBox="1"/>
          <p:nvPr/>
        </p:nvSpPr>
        <p:spPr>
          <a:xfrm>
            <a:off x="545100" y="187573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635C35-91F8-E3DF-2F4C-C3A8E8F928E4}"/>
              </a:ext>
            </a:extLst>
          </p:cNvPr>
          <p:cNvSpPr txBox="1"/>
          <p:nvPr/>
        </p:nvSpPr>
        <p:spPr>
          <a:xfrm>
            <a:off x="1825260" y="199460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5B5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56E7C268-99E0-A17F-70F3-44F4894693DD}"/>
              </a:ext>
            </a:extLst>
          </p:cNvPr>
          <p:cNvSpPr/>
          <p:nvPr/>
        </p:nvSpPr>
        <p:spPr>
          <a:xfrm>
            <a:off x="2099580" y="1720282"/>
            <a:ext cx="1353312" cy="1005840"/>
          </a:xfrm>
          <a:prstGeom prst="roundRect">
            <a:avLst/>
          </a:prstGeom>
          <a:solidFill>
            <a:srgbClr val="14203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C3DE09-7BE4-DD43-C1C4-D629827ABE02}"/>
              </a:ext>
            </a:extLst>
          </p:cNvPr>
          <p:cNvSpPr txBox="1"/>
          <p:nvPr/>
        </p:nvSpPr>
        <p:spPr>
          <a:xfrm>
            <a:off x="2172732" y="187573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LOAD JSON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A1305A-B2B0-5235-BB66-C45F7C7106FB}"/>
              </a:ext>
            </a:extLst>
          </p:cNvPr>
          <p:cNvSpPr txBox="1"/>
          <p:nvPr/>
        </p:nvSpPr>
        <p:spPr>
          <a:xfrm>
            <a:off x="3452892" y="199460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5B5C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12">
            <a:extLst>
              <a:ext uri="{FF2B5EF4-FFF2-40B4-BE49-F238E27FC236}">
                <a16:creationId xmlns:a16="http://schemas.microsoft.com/office/drawing/2014/main" id="{D07EF775-B0F9-D49E-FEAF-F3CA77CBFCC9}"/>
              </a:ext>
            </a:extLst>
          </p:cNvPr>
          <p:cNvSpPr/>
          <p:nvPr/>
        </p:nvSpPr>
        <p:spPr>
          <a:xfrm>
            <a:off x="3727212" y="1720282"/>
            <a:ext cx="1353312" cy="1005840"/>
          </a:xfrm>
          <a:prstGeom prst="roundRect">
            <a:avLst/>
          </a:prstGeom>
          <a:solidFill>
            <a:srgbClr val="142037"/>
          </a:solidFill>
          <a:ln>
            <a:solidFill>
              <a:srgbClr val="3DD3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0018EE-2861-6EBD-55E3-DB3249B15262}"/>
              </a:ext>
            </a:extLst>
          </p:cNvPr>
          <p:cNvSpPr txBox="1"/>
          <p:nvPr/>
        </p:nvSpPr>
        <p:spPr>
          <a:xfrm>
            <a:off x="3800364" y="1875730"/>
            <a:ext cx="120700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5F8FC"/>
                </a:solidFill>
                <a:latin typeface="Aptos"/>
              </a:defRPr>
            </a:pPr>
            <a:r>
              <a:t>MAIN MENU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34F96F-7F88-9804-909A-1EA2C2CBDCA9}"/>
              </a:ext>
            </a:extLst>
          </p:cNvPr>
          <p:cNvSpPr txBox="1"/>
          <p:nvPr/>
        </p:nvSpPr>
        <p:spPr>
          <a:xfrm>
            <a:off x="5080524" y="1994602"/>
            <a:ext cx="2743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A5B5CC"/>
                </a:solidFill>
                <a:latin typeface="Aptos"/>
              </a:defRPr>
            </a:pPr>
            <a:r>
              <a:rPr dirty="0"/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3694BB3-1766-D6E6-33EA-88B125632ED0}"/>
              </a:ext>
            </a:extLst>
          </p:cNvPr>
          <p:cNvSpPr/>
          <p:nvPr/>
        </p:nvSpPr>
        <p:spPr>
          <a:xfrm>
            <a:off x="502920" y="411480"/>
            <a:ext cx="73152" cy="502920"/>
          </a:xfrm>
          <a:prstGeom prst="rect">
            <a:avLst/>
          </a:prstGeom>
          <a:solidFill>
            <a:srgbClr val="48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4835E4D-F3C3-1BD7-2D10-BB438A97FEDC}"/>
              </a:ext>
            </a:extLst>
          </p:cNvPr>
          <p:cNvSpPr txBox="1"/>
          <p:nvPr/>
        </p:nvSpPr>
        <p:spPr>
          <a:xfrm>
            <a:off x="713232" y="556778"/>
            <a:ext cx="1051560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800" b="1">
                <a:solidFill>
                  <a:srgbClr val="F5F8FC"/>
                </a:solidFill>
                <a:latin typeface="Aptos"/>
              </a:defRPr>
            </a:pPr>
            <a:r>
              <a:rPr dirty="0">
                <a:solidFill>
                  <a:schemeClr val="tx2">
                    <a:lumMod val="50000"/>
                  </a:schemeClr>
                </a:solidFill>
              </a:rPr>
              <a:t>HOW THE SYSTEM WORKS</a:t>
            </a:r>
          </a:p>
        </p:txBody>
      </p:sp>
    </p:spTree>
    <p:extLst>
      <p:ext uri="{BB962C8B-B14F-4D97-AF65-F5344CB8AC3E}">
        <p14:creationId xmlns:p14="http://schemas.microsoft.com/office/powerpoint/2010/main" val="1784627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row: Down 7">
            <a:extLst>
              <a:ext uri="{FF2B5EF4-FFF2-40B4-BE49-F238E27FC236}">
                <a16:creationId xmlns:a16="http://schemas.microsoft.com/office/drawing/2014/main" id="{949D00AF-B0A5-8CF8-E7C3-AA932AF0E153}"/>
              </a:ext>
            </a:extLst>
          </p:cNvPr>
          <p:cNvSpPr/>
          <p:nvPr/>
        </p:nvSpPr>
        <p:spPr>
          <a:xfrm>
            <a:off x="1330427" y="1108587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3953B1-DAD9-87D8-34B8-F39D1A414F7B}"/>
              </a:ext>
            </a:extLst>
          </p:cNvPr>
          <p:cNvSpPr/>
          <p:nvPr/>
        </p:nvSpPr>
        <p:spPr>
          <a:xfrm>
            <a:off x="370554" y="1565787"/>
            <a:ext cx="2376946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Load JSON Data  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39E9760-7EDC-2BA4-C376-C9060B72537C}"/>
              </a:ext>
            </a:extLst>
          </p:cNvPr>
          <p:cNvSpPr/>
          <p:nvPr/>
        </p:nvSpPr>
        <p:spPr>
          <a:xfrm>
            <a:off x="1330427" y="2022987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6C29F64-E25B-8366-BD2D-4FA65E2798B5}"/>
              </a:ext>
            </a:extLst>
          </p:cNvPr>
          <p:cNvSpPr/>
          <p:nvPr/>
        </p:nvSpPr>
        <p:spPr>
          <a:xfrm>
            <a:off x="503903" y="2480187"/>
            <a:ext cx="1876731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Display Menu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BC641164-F5C2-48BC-CA85-9D90D3FBBAB8}"/>
              </a:ext>
            </a:extLst>
          </p:cNvPr>
          <p:cNvSpPr/>
          <p:nvPr/>
        </p:nvSpPr>
        <p:spPr>
          <a:xfrm>
            <a:off x="1327969" y="2937387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E5522F-FC78-A732-8EF8-D5CEC46CEF31}"/>
              </a:ext>
            </a:extLst>
          </p:cNvPr>
          <p:cNvSpPr/>
          <p:nvPr/>
        </p:nvSpPr>
        <p:spPr>
          <a:xfrm>
            <a:off x="533400" y="3429000"/>
            <a:ext cx="1876731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Select Operation</a:t>
            </a:r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30D80205-B244-C4FC-8BE8-1418EDF7E597}"/>
              </a:ext>
            </a:extLst>
          </p:cNvPr>
          <p:cNvSpPr/>
          <p:nvPr/>
        </p:nvSpPr>
        <p:spPr>
          <a:xfrm rot="16200000">
            <a:off x="2551470" y="34290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BD1DA2-48D7-1DDA-8371-03040AF2EE01}"/>
              </a:ext>
            </a:extLst>
          </p:cNvPr>
          <p:cNvSpPr/>
          <p:nvPr/>
        </p:nvSpPr>
        <p:spPr>
          <a:xfrm>
            <a:off x="2878087" y="2383092"/>
            <a:ext cx="186197" cy="254901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70258C31-730F-E4A0-6D7F-D7D87D828991}"/>
              </a:ext>
            </a:extLst>
          </p:cNvPr>
          <p:cNvSpPr/>
          <p:nvPr/>
        </p:nvSpPr>
        <p:spPr>
          <a:xfrm rot="16200000">
            <a:off x="3189340" y="2251587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448FDF62-C312-110D-65E9-225FAC7E4B9C}"/>
              </a:ext>
            </a:extLst>
          </p:cNvPr>
          <p:cNvSpPr/>
          <p:nvPr/>
        </p:nvSpPr>
        <p:spPr>
          <a:xfrm rot="16200000">
            <a:off x="3189340" y="3467100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5E1D9B16-F29C-0DD8-1A07-A3B3696240DD}"/>
              </a:ext>
            </a:extLst>
          </p:cNvPr>
          <p:cNvSpPr/>
          <p:nvPr/>
        </p:nvSpPr>
        <p:spPr>
          <a:xfrm rot="16200000">
            <a:off x="3215671" y="4632398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465BC533-93BC-C4DC-7B1B-5CF8924361A8}"/>
              </a:ext>
            </a:extLst>
          </p:cNvPr>
          <p:cNvSpPr/>
          <p:nvPr/>
        </p:nvSpPr>
        <p:spPr>
          <a:xfrm rot="16200000">
            <a:off x="7390099" y="3479660"/>
            <a:ext cx="228601" cy="3558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12D89B1-3155-68F9-B63E-BDBA5E701298}"/>
              </a:ext>
            </a:extLst>
          </p:cNvPr>
          <p:cNvSpPr/>
          <p:nvPr/>
        </p:nvSpPr>
        <p:spPr>
          <a:xfrm rot="16200000">
            <a:off x="5783655" y="3437692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895D89E-5B00-5721-AA59-4B62A7A34278}"/>
              </a:ext>
            </a:extLst>
          </p:cNvPr>
          <p:cNvSpPr/>
          <p:nvPr/>
        </p:nvSpPr>
        <p:spPr>
          <a:xfrm>
            <a:off x="3554359" y="2299518"/>
            <a:ext cx="1470105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Books 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CBBB70AD-41BF-E600-6899-BC82AD33A6A3}"/>
              </a:ext>
            </a:extLst>
          </p:cNvPr>
          <p:cNvSpPr/>
          <p:nvPr/>
        </p:nvSpPr>
        <p:spPr>
          <a:xfrm rot="16200000">
            <a:off x="5148414" y="2286137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BBE06F-5658-3BC7-F4C7-9A35DF3EC600}"/>
              </a:ext>
            </a:extLst>
          </p:cNvPr>
          <p:cNvSpPr/>
          <p:nvPr/>
        </p:nvSpPr>
        <p:spPr>
          <a:xfrm>
            <a:off x="3569110" y="3457266"/>
            <a:ext cx="1455353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Members </a:t>
            </a:r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1FC7F8E7-2FC3-B2A8-A6FC-44F2AAC17630}"/>
              </a:ext>
            </a:extLst>
          </p:cNvPr>
          <p:cNvSpPr/>
          <p:nvPr/>
        </p:nvSpPr>
        <p:spPr>
          <a:xfrm rot="16200000">
            <a:off x="5168280" y="3437693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661A308-8490-76E7-CAC4-D99DF5177625}"/>
              </a:ext>
            </a:extLst>
          </p:cNvPr>
          <p:cNvSpPr/>
          <p:nvPr/>
        </p:nvSpPr>
        <p:spPr>
          <a:xfrm>
            <a:off x="3595444" y="4605180"/>
            <a:ext cx="1433755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Transactions </a:t>
            </a:r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6767A927-2E8D-6487-1A1A-B2498790C0AE}"/>
              </a:ext>
            </a:extLst>
          </p:cNvPr>
          <p:cNvSpPr/>
          <p:nvPr/>
        </p:nvSpPr>
        <p:spPr>
          <a:xfrm rot="16200000">
            <a:off x="5153331" y="4613784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B81C971-F3A1-C413-A22D-9170B30A47D4}"/>
              </a:ext>
            </a:extLst>
          </p:cNvPr>
          <p:cNvSpPr txBox="1"/>
          <p:nvPr/>
        </p:nvSpPr>
        <p:spPr>
          <a:xfrm>
            <a:off x="3575779" y="2747112"/>
            <a:ext cx="24842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(Add/Search, </a:t>
            </a:r>
          </a:p>
          <a:p>
            <a:r>
              <a:rPr lang="en-US" sz="1200" b="1" dirty="0"/>
              <a:t>Update/Remove)</a:t>
            </a:r>
            <a:endParaRPr lang="en-IN" sz="12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3ED763B-FDBB-3BBB-9101-CFD5AD32E3CA}"/>
              </a:ext>
            </a:extLst>
          </p:cNvPr>
          <p:cNvSpPr txBox="1"/>
          <p:nvPr/>
        </p:nvSpPr>
        <p:spPr>
          <a:xfrm>
            <a:off x="3532240" y="3922016"/>
            <a:ext cx="2195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(Register ,      </a:t>
            </a:r>
          </a:p>
          <a:p>
            <a:r>
              <a:rPr lang="en-US" sz="1400" b="1" dirty="0"/>
              <a:t>Search)</a:t>
            </a:r>
            <a:endParaRPr lang="en-IN" sz="1400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EBD64D-605E-33A1-C8C5-F4CB3697509B}"/>
              </a:ext>
            </a:extLst>
          </p:cNvPr>
          <p:cNvSpPr txBox="1"/>
          <p:nvPr/>
        </p:nvSpPr>
        <p:spPr>
          <a:xfrm>
            <a:off x="3596367" y="5132663"/>
            <a:ext cx="1752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(Issue / Return ,</a:t>
            </a:r>
          </a:p>
          <a:p>
            <a:r>
              <a:rPr lang="en-US" sz="1200" b="1" dirty="0"/>
              <a:t> Fine Calculation)</a:t>
            </a:r>
            <a:endParaRPr lang="en-IN" sz="1200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F11386C-A4DB-1FD3-7017-5CF2545BF91D}"/>
              </a:ext>
            </a:extLst>
          </p:cNvPr>
          <p:cNvSpPr/>
          <p:nvPr/>
        </p:nvSpPr>
        <p:spPr>
          <a:xfrm>
            <a:off x="5535960" y="2374717"/>
            <a:ext cx="186197" cy="2549013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37F59AC-0E68-D568-A2AF-3A0E7FC881F6}"/>
              </a:ext>
            </a:extLst>
          </p:cNvPr>
          <p:cNvSpPr/>
          <p:nvPr/>
        </p:nvSpPr>
        <p:spPr>
          <a:xfrm>
            <a:off x="6156052" y="3437691"/>
            <a:ext cx="1143000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Update Data 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C0ED316-C232-9BC3-E63A-AF254F879F89}"/>
              </a:ext>
            </a:extLst>
          </p:cNvPr>
          <p:cNvSpPr/>
          <p:nvPr/>
        </p:nvSpPr>
        <p:spPr>
          <a:xfrm>
            <a:off x="7702513" y="3403278"/>
            <a:ext cx="1143000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Save JSON 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4CBD66-13BA-F7B3-D443-05C9F8FE6152}"/>
              </a:ext>
            </a:extLst>
          </p:cNvPr>
          <p:cNvSpPr/>
          <p:nvPr/>
        </p:nvSpPr>
        <p:spPr>
          <a:xfrm>
            <a:off x="6332516" y="5596786"/>
            <a:ext cx="1143000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 Menu 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B8FDA4-EE5B-27FC-D3B3-9F27122709CD}"/>
              </a:ext>
            </a:extLst>
          </p:cNvPr>
          <p:cNvSpPr/>
          <p:nvPr/>
        </p:nvSpPr>
        <p:spPr>
          <a:xfrm>
            <a:off x="7682338" y="4355774"/>
            <a:ext cx="1143000" cy="457200"/>
          </a:xfrm>
          <a:prstGeom prst="rect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Continue? </a:t>
            </a:r>
          </a:p>
        </p:txBody>
      </p:sp>
      <p:sp>
        <p:nvSpPr>
          <p:cNvPr id="35" name="Arrow: Down 34">
            <a:extLst>
              <a:ext uri="{FF2B5EF4-FFF2-40B4-BE49-F238E27FC236}">
                <a16:creationId xmlns:a16="http://schemas.microsoft.com/office/drawing/2014/main" id="{26531E90-5FEA-FC7E-F30C-519A9B332383}"/>
              </a:ext>
            </a:extLst>
          </p:cNvPr>
          <p:cNvSpPr/>
          <p:nvPr/>
        </p:nvSpPr>
        <p:spPr>
          <a:xfrm>
            <a:off x="8079533" y="3898574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7059D1-101E-87D6-A844-C2AF4E1148F0}"/>
              </a:ext>
            </a:extLst>
          </p:cNvPr>
          <p:cNvSpPr txBox="1"/>
          <p:nvPr/>
        </p:nvSpPr>
        <p:spPr>
          <a:xfrm>
            <a:off x="7010400" y="5132663"/>
            <a:ext cx="1069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Yes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4ACC05-7A40-65F1-6282-46F36D0C9080}"/>
              </a:ext>
            </a:extLst>
          </p:cNvPr>
          <p:cNvSpPr txBox="1"/>
          <p:nvPr/>
        </p:nvSpPr>
        <p:spPr>
          <a:xfrm>
            <a:off x="8079533" y="5132663"/>
            <a:ext cx="765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No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93BE5BA-09FA-B8BD-ABA6-A653DA49E9D2}"/>
              </a:ext>
            </a:extLst>
          </p:cNvPr>
          <p:cNvCxnSpPr/>
          <p:nvPr/>
        </p:nvCxnSpPr>
        <p:spPr>
          <a:xfrm>
            <a:off x="7326461" y="5009773"/>
            <a:ext cx="9816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7866ED3-E8A5-CCC7-3A16-3CFF7999E0F0}"/>
              </a:ext>
            </a:extLst>
          </p:cNvPr>
          <p:cNvCxnSpPr/>
          <p:nvPr/>
        </p:nvCxnSpPr>
        <p:spPr>
          <a:xfrm>
            <a:off x="8308133" y="4812974"/>
            <a:ext cx="0" cy="3935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4062506-FA3A-6BDA-74B0-D4443ECAB414}"/>
              </a:ext>
            </a:extLst>
          </p:cNvPr>
          <p:cNvCxnSpPr/>
          <p:nvPr/>
        </p:nvCxnSpPr>
        <p:spPr>
          <a:xfrm>
            <a:off x="7337722" y="5013443"/>
            <a:ext cx="0" cy="144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930102DC-E5FE-F5D8-23A4-4FC621881BA5}"/>
              </a:ext>
            </a:extLst>
          </p:cNvPr>
          <p:cNvSpPr txBox="1"/>
          <p:nvPr/>
        </p:nvSpPr>
        <p:spPr>
          <a:xfrm>
            <a:off x="162431" y="19884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🔄 </a:t>
            </a:r>
            <a:r>
              <a:rPr lang="en-IN" b="1" dirty="0"/>
              <a:t>Flowchart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76444F7F-1D65-47AF-8B06-AD906074473E}"/>
              </a:ext>
            </a:extLst>
          </p:cNvPr>
          <p:cNvSpPr/>
          <p:nvPr/>
        </p:nvSpPr>
        <p:spPr>
          <a:xfrm>
            <a:off x="1341688" y="1117280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0DE2F89B-D21B-A396-C67F-F9F49F7F6E89}"/>
              </a:ext>
            </a:extLst>
          </p:cNvPr>
          <p:cNvSpPr/>
          <p:nvPr/>
        </p:nvSpPr>
        <p:spPr>
          <a:xfrm>
            <a:off x="1341688" y="2031680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AF6EDE21-DA44-8120-F91D-68DCBC8B0F48}"/>
              </a:ext>
            </a:extLst>
          </p:cNvPr>
          <p:cNvSpPr/>
          <p:nvPr/>
        </p:nvSpPr>
        <p:spPr>
          <a:xfrm>
            <a:off x="1339230" y="2946080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45EAD6F9-DAA8-C23B-981D-1CB4EB76A44D}"/>
              </a:ext>
            </a:extLst>
          </p:cNvPr>
          <p:cNvSpPr/>
          <p:nvPr/>
        </p:nvSpPr>
        <p:spPr>
          <a:xfrm rot="16200000">
            <a:off x="2562731" y="3437693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53372CA-D3AE-01DA-6A07-B964B4EBF06E}"/>
              </a:ext>
            </a:extLst>
          </p:cNvPr>
          <p:cNvSpPr/>
          <p:nvPr/>
        </p:nvSpPr>
        <p:spPr>
          <a:xfrm rot="16200000">
            <a:off x="3190229" y="2217259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9" name="Arrow: Down 38">
            <a:extLst>
              <a:ext uri="{FF2B5EF4-FFF2-40B4-BE49-F238E27FC236}">
                <a16:creationId xmlns:a16="http://schemas.microsoft.com/office/drawing/2014/main" id="{41ED9124-EE89-1275-3D92-F03F0FE13CCE}"/>
              </a:ext>
            </a:extLst>
          </p:cNvPr>
          <p:cNvSpPr/>
          <p:nvPr/>
        </p:nvSpPr>
        <p:spPr>
          <a:xfrm rot="16200000">
            <a:off x="3200601" y="3475793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97A10B13-A7B0-BD37-0422-E2ACF0F0FA69}"/>
              </a:ext>
            </a:extLst>
          </p:cNvPr>
          <p:cNvSpPr/>
          <p:nvPr/>
        </p:nvSpPr>
        <p:spPr>
          <a:xfrm rot="16200000">
            <a:off x="3226932" y="4641091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Arrow: Down 42">
            <a:extLst>
              <a:ext uri="{FF2B5EF4-FFF2-40B4-BE49-F238E27FC236}">
                <a16:creationId xmlns:a16="http://schemas.microsoft.com/office/drawing/2014/main" id="{C2FF4FF9-31E2-C649-8C9D-1AD146B35FEC}"/>
              </a:ext>
            </a:extLst>
          </p:cNvPr>
          <p:cNvSpPr/>
          <p:nvPr/>
        </p:nvSpPr>
        <p:spPr>
          <a:xfrm rot="16200000">
            <a:off x="7401360" y="3488353"/>
            <a:ext cx="228601" cy="355877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5" name="Arrow: Down 44">
            <a:extLst>
              <a:ext uri="{FF2B5EF4-FFF2-40B4-BE49-F238E27FC236}">
                <a16:creationId xmlns:a16="http://schemas.microsoft.com/office/drawing/2014/main" id="{35350591-0125-7DD6-7CC9-D84D0A604EF9}"/>
              </a:ext>
            </a:extLst>
          </p:cNvPr>
          <p:cNvSpPr/>
          <p:nvPr/>
        </p:nvSpPr>
        <p:spPr>
          <a:xfrm rot="16200000">
            <a:off x="5794916" y="3446385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7" name="Arrow: Down 46">
            <a:extLst>
              <a:ext uri="{FF2B5EF4-FFF2-40B4-BE49-F238E27FC236}">
                <a16:creationId xmlns:a16="http://schemas.microsoft.com/office/drawing/2014/main" id="{2C78AD13-4CEF-A4E2-239C-9B4FC578FBEF}"/>
              </a:ext>
            </a:extLst>
          </p:cNvPr>
          <p:cNvSpPr/>
          <p:nvPr/>
        </p:nvSpPr>
        <p:spPr>
          <a:xfrm rot="16200000">
            <a:off x="5159675" y="2294830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Arrow: Down 47">
            <a:extLst>
              <a:ext uri="{FF2B5EF4-FFF2-40B4-BE49-F238E27FC236}">
                <a16:creationId xmlns:a16="http://schemas.microsoft.com/office/drawing/2014/main" id="{13403385-81DB-2E63-01F8-CE3938A6060A}"/>
              </a:ext>
            </a:extLst>
          </p:cNvPr>
          <p:cNvSpPr/>
          <p:nvPr/>
        </p:nvSpPr>
        <p:spPr>
          <a:xfrm rot="16200000">
            <a:off x="5179541" y="3446386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Arrow: Down 48">
            <a:extLst>
              <a:ext uri="{FF2B5EF4-FFF2-40B4-BE49-F238E27FC236}">
                <a16:creationId xmlns:a16="http://schemas.microsoft.com/office/drawing/2014/main" id="{BE45785A-B2D6-9B8C-3DDB-F3D16478BFFB}"/>
              </a:ext>
            </a:extLst>
          </p:cNvPr>
          <p:cNvSpPr/>
          <p:nvPr/>
        </p:nvSpPr>
        <p:spPr>
          <a:xfrm rot="16200000">
            <a:off x="5164592" y="4622477"/>
            <a:ext cx="228600" cy="457200"/>
          </a:xfrm>
          <a:prstGeom prst="downArrow">
            <a:avLst/>
          </a:prstGeom>
          <a:solidFill>
            <a:schemeClr val="tx2">
              <a:lumMod val="75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Flowchart: Terminator 50">
            <a:extLst>
              <a:ext uri="{FF2B5EF4-FFF2-40B4-BE49-F238E27FC236}">
                <a16:creationId xmlns:a16="http://schemas.microsoft.com/office/drawing/2014/main" id="{7448D5A2-23AF-AAEC-D81C-5F51E20EE83C}"/>
              </a:ext>
            </a:extLst>
          </p:cNvPr>
          <p:cNvSpPr/>
          <p:nvPr/>
        </p:nvSpPr>
        <p:spPr>
          <a:xfrm>
            <a:off x="736712" y="638884"/>
            <a:ext cx="1470105" cy="533400"/>
          </a:xfrm>
          <a:prstGeom prst="flowChartTerminator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START</a:t>
            </a:r>
          </a:p>
        </p:txBody>
      </p:sp>
      <p:sp>
        <p:nvSpPr>
          <p:cNvPr id="53" name="Flowchart: Terminator 52">
            <a:extLst>
              <a:ext uri="{FF2B5EF4-FFF2-40B4-BE49-F238E27FC236}">
                <a16:creationId xmlns:a16="http://schemas.microsoft.com/office/drawing/2014/main" id="{426E32D4-7BAA-2FEA-6A36-36C7A380A129}"/>
              </a:ext>
            </a:extLst>
          </p:cNvPr>
          <p:cNvSpPr/>
          <p:nvPr/>
        </p:nvSpPr>
        <p:spPr>
          <a:xfrm>
            <a:off x="7660433" y="5533474"/>
            <a:ext cx="1295400" cy="517272"/>
          </a:xfrm>
          <a:prstGeom prst="flowChartTerminator">
            <a:avLst/>
          </a:prstGeom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443247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F18BF5D-01F0-7266-A77E-8546E6A8E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57200"/>
            <a:ext cx="7315200" cy="796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🐍 Understanding of Python Logic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110E710-7F06-9CBE-CB3F-C569D601BCFF}"/>
              </a:ext>
            </a:extLst>
          </p:cNvPr>
          <p:cNvSpPr/>
          <p:nvPr/>
        </p:nvSpPr>
        <p:spPr>
          <a:xfrm>
            <a:off x="381000" y="1143000"/>
            <a:ext cx="6781800" cy="32004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PYTHON LOGIC USED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Functions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Divide the system into modules such as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add_book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issue_book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,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return_book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()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Lists &amp; Dictionaries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Store and manage book, member, and transaction records.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Conditional Statements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Check conditions such as book availability and valid member details.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Loops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Repeatedly display the menu until the user chooses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Exit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File Handling &amp; JSON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Read and save data permanently using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.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json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files.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datetime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Module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Calculate issue dates, due dates, and overdue days. 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Fine Calculation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Fine = Overdue Days × Fine Per Day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Exception Handling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→ Prevent program crashes due to invalid user input or file errors.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2BDB5F-078D-EB17-C4E1-810550C7086D}"/>
              </a:ext>
            </a:extLst>
          </p:cNvPr>
          <p:cNvSpPr/>
          <p:nvPr/>
        </p:nvSpPr>
        <p:spPr>
          <a:xfrm>
            <a:off x="1752600" y="4533900"/>
            <a:ext cx="5257800" cy="99060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due_date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=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issue_date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+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timedelta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(days=14)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fine =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overdue_days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* FINE_PER_DAY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265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821F3B-1FC9-794E-7634-C8D9F89F22E1}"/>
              </a:ext>
            </a:extLst>
          </p:cNvPr>
          <p:cNvSpPr txBox="1"/>
          <p:nvPr/>
        </p:nvSpPr>
        <p:spPr>
          <a:xfrm>
            <a:off x="137160" y="365760"/>
            <a:ext cx="550984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153"/>
                </a:solidFill>
              </a:defRPr>
            </a:pPr>
            <a:r>
              <a:rPr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GITHUB &amp; VERSION CONTROL</a:t>
            </a: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DDDA6342-A8F4-17CD-FC23-FF06CE822456}"/>
              </a:ext>
            </a:extLst>
          </p:cNvPr>
          <p:cNvSpPr/>
          <p:nvPr/>
        </p:nvSpPr>
        <p:spPr>
          <a:xfrm>
            <a:off x="228600" y="1280160"/>
            <a:ext cx="4419600" cy="2910840"/>
          </a:xfrm>
          <a:prstGeom prst="roundRect">
            <a:avLst/>
          </a:prstGeom>
          <a:solidFill>
            <a:srgbClr val="EFF6FF"/>
          </a:solidFill>
          <a:ln>
            <a:solidFill>
              <a:srgbClr val="2D6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87A5D5-09C0-0AE6-F30E-AABA06A90290}"/>
              </a:ext>
            </a:extLst>
          </p:cNvPr>
          <p:cNvSpPr txBox="1"/>
          <p:nvPr/>
        </p:nvSpPr>
        <p:spPr>
          <a:xfrm>
            <a:off x="411480" y="1408176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t>GitHub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9414E6-C572-F303-5A46-1F0097762B08}"/>
              </a:ext>
            </a:extLst>
          </p:cNvPr>
          <p:cNvSpPr txBox="1"/>
          <p:nvPr/>
        </p:nvSpPr>
        <p:spPr>
          <a:xfrm>
            <a:off x="411480" y="1901952"/>
            <a:ext cx="4937759" cy="3566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rPr dirty="0"/>
              <a:t>1. Create GitHub account</a:t>
            </a:r>
            <a:br>
              <a:rPr dirty="0"/>
            </a:br>
            <a:r>
              <a:rPr dirty="0"/>
              <a:t>2. Create repository: library-management-system</a:t>
            </a:r>
            <a:br>
              <a:rPr dirty="0"/>
            </a:br>
            <a:r>
              <a:rPr dirty="0"/>
              <a:t>3. Clone / initialize repository</a:t>
            </a:r>
            <a:br>
              <a:rPr dirty="0"/>
            </a:br>
            <a:r>
              <a:rPr dirty="0"/>
              <a:t>4. Add Python source code</a:t>
            </a:r>
            <a:br>
              <a:rPr dirty="0"/>
            </a:br>
            <a:r>
              <a:rPr dirty="0"/>
              <a:t>5. git add .</a:t>
            </a:r>
            <a:br>
              <a:rPr dirty="0"/>
            </a:br>
            <a:r>
              <a:rPr dirty="0"/>
              <a:t>6. git commit -m "meaningful message"</a:t>
            </a:r>
            <a:br>
              <a:rPr dirty="0"/>
            </a:br>
            <a:r>
              <a:rPr dirty="0"/>
              <a:t>7. git push</a:t>
            </a:r>
            <a:br>
              <a:rPr dirty="0"/>
            </a:br>
            <a:r>
              <a:rPr dirty="0"/>
              <a:t>8. Verify files on GitHub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61442342-1A66-7A40-5C00-601010B4C98C}"/>
              </a:ext>
            </a:extLst>
          </p:cNvPr>
          <p:cNvSpPr/>
          <p:nvPr/>
        </p:nvSpPr>
        <p:spPr>
          <a:xfrm>
            <a:off x="4847303" y="1272786"/>
            <a:ext cx="3885218" cy="2918214"/>
          </a:xfrm>
          <a:prstGeom prst="roundRect">
            <a:avLst/>
          </a:prstGeom>
          <a:solidFill>
            <a:srgbClr val="EFF6FF"/>
          </a:solidFill>
          <a:ln>
            <a:solidFill>
              <a:srgbClr val="2D68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72179E-6280-442C-69CC-6DFA0D5CD78B}"/>
              </a:ext>
            </a:extLst>
          </p:cNvPr>
          <p:cNvSpPr txBox="1"/>
          <p:nvPr/>
        </p:nvSpPr>
        <p:spPr>
          <a:xfrm>
            <a:off x="5258783" y="1400802"/>
            <a:ext cx="493775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83153"/>
                </a:solidFill>
              </a:defRPr>
            </a:pPr>
            <a:r>
              <a:rPr dirty="0"/>
              <a:t>Meaningful Commits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017EC9-0F22-911B-12A3-30C629DDAC70}"/>
              </a:ext>
            </a:extLst>
          </p:cNvPr>
          <p:cNvSpPr txBox="1"/>
          <p:nvPr/>
        </p:nvSpPr>
        <p:spPr>
          <a:xfrm>
            <a:off x="5258783" y="1894578"/>
            <a:ext cx="3100529" cy="22929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2D37"/>
                </a:solidFill>
              </a:defRPr>
            </a:pPr>
            <a:r>
              <a:rPr dirty="0"/>
              <a:t>• Initial project structure</a:t>
            </a:r>
            <a:br>
              <a:rPr dirty="0"/>
            </a:br>
            <a:r>
              <a:rPr dirty="0"/>
              <a:t>• Added book management</a:t>
            </a:r>
            <a:br>
              <a:rPr dirty="0"/>
            </a:br>
            <a:r>
              <a:rPr dirty="0"/>
              <a:t>• Added member management</a:t>
            </a:r>
            <a:br>
              <a:rPr dirty="0"/>
            </a:br>
            <a:r>
              <a:rPr dirty="0"/>
              <a:t>• Implemented issue and return</a:t>
            </a:r>
            <a:br>
              <a:rPr dirty="0"/>
            </a:br>
            <a:r>
              <a:rPr dirty="0"/>
              <a:t>• Added fine calculation</a:t>
            </a:r>
            <a:br>
              <a:rPr dirty="0"/>
            </a:br>
            <a:r>
              <a:rPr dirty="0"/>
              <a:t>• Added JSON storage</a:t>
            </a:r>
            <a:br>
              <a:rPr dirty="0"/>
            </a:br>
            <a:r>
              <a:rPr dirty="0"/>
              <a:t>• Improved input validation</a:t>
            </a:r>
            <a:br>
              <a:rPr dirty="0"/>
            </a:br>
            <a:r>
              <a:rPr dirty="0"/>
              <a:t>• Updated README</a:t>
            </a:r>
            <a:br>
              <a:rPr dirty="0"/>
            </a:br>
            <a:br>
              <a:rPr dirty="0"/>
            </a:br>
            <a:r>
              <a:rPr dirty="0"/>
              <a:t>Add a screenshot of your actual GitHub</a:t>
            </a:r>
            <a:endParaRPr lang="en-IN" dirty="0"/>
          </a:p>
          <a:p>
            <a:pPr>
              <a:defRPr sz="1300">
                <a:solidFill>
                  <a:srgbClr val="232D37"/>
                </a:solidFill>
              </a:defRPr>
            </a:pPr>
            <a:r>
              <a:rPr dirty="0"/>
              <a:t> repository here.</a:t>
            </a:r>
          </a:p>
        </p:txBody>
      </p:sp>
    </p:spTree>
    <p:extLst>
      <p:ext uri="{BB962C8B-B14F-4D97-AF65-F5344CB8AC3E}">
        <p14:creationId xmlns:p14="http://schemas.microsoft.com/office/powerpoint/2010/main" val="2064338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Thank</a:t>
            </a:r>
            <a:r>
              <a:rPr spc="-260" dirty="0"/>
              <a:t> </a:t>
            </a:r>
            <a:r>
              <a:rPr spc="-70" dirty="0"/>
              <a:t>You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</TotalTime>
  <Words>588</Words>
  <Application>Microsoft Office PowerPoint</Application>
  <PresentationFormat>On-screen Show (4:3)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Unicode MS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dc:creator>Asus Tuf</dc:creator>
  <cp:lastModifiedBy>Khushab Bawankar</cp:lastModifiedBy>
  <cp:revision>4</cp:revision>
  <dcterms:created xsi:type="dcterms:W3CDTF">2026-08-15T09:23:57Z</dcterms:created>
  <dcterms:modified xsi:type="dcterms:W3CDTF">2026-08-16T08:22:20Z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2026-08-15T00:00:00Z</vt:filetime>
  </property>
</Properties>
</file>