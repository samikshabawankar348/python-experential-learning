
<file path=[Content_Types].xml><?xml version="1.0" encoding="utf-8"?>
<Types xmlns="http://schemas.openxmlformats.org/package/2006/content-types">
  <Default Extension="jpeg" ContentType="image/jpeg"/>
  <Default Extension="jpg" ContentType="image/jp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64" r:id="rId2"/>
    <p:sldId id="256" r:id="rId3"/>
    <p:sldId id="257" r:id="rId4"/>
    <p:sldId id="258" r:id="rId5"/>
    <p:sldId id="259" r:id="rId6"/>
    <p:sldId id="260" r:id="rId7"/>
    <p:sldId id="261" r:id="rId8"/>
    <p:sldId id="262" r:id="rId9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47" d="100"/>
          <a:sy n="47" d="100"/>
        </p:scale>
        <p:origin x="1027" y="43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9/21/2026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9/21/2026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9/21/2026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9/21/2026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object 2" descr="$PPTXTitle">
            <a:extLst>
              <a:ext uri="{FF2B5EF4-FFF2-40B4-BE49-F238E27FC236}">
                <a16:creationId xmlns:a16="http://schemas.microsoft.com/office/drawing/2014/main" id="{32078CF6-ED61-3081-D810-A3C5505A4292}"/>
              </a:ext>
            </a:extLst>
          </p:cNvPr>
          <p:cNvSpPr txBox="1">
            <a:spLocks/>
          </p:cNvSpPr>
          <p:nvPr/>
        </p:nvSpPr>
        <p:spPr>
          <a:xfrm>
            <a:off x="3304588" y="256958"/>
            <a:ext cx="5923908" cy="1490152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>
            <a:lvl1pPr algn="ctr" defTabSz="4572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12700" marR="5080">
              <a:spcBef>
                <a:spcPts val="100"/>
              </a:spcBef>
            </a:pPr>
            <a:r>
              <a:rPr lang="en-US" sz="3200" dirty="0">
                <a:solidFill>
                  <a:srgbClr val="000000"/>
                </a:solidFill>
                <a:latin typeface="Times New Roman"/>
                <a:cs typeface="Times New Roman"/>
              </a:rPr>
              <a:t>Experiential</a:t>
            </a:r>
            <a:r>
              <a:rPr lang="en-US" sz="3200" spc="-6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sz="3200" spc="-10" dirty="0">
                <a:solidFill>
                  <a:srgbClr val="000000"/>
                </a:solidFill>
                <a:latin typeface="Times New Roman"/>
                <a:cs typeface="Times New Roman"/>
              </a:rPr>
              <a:t>Learning </a:t>
            </a:r>
            <a:r>
              <a:rPr lang="en-US" sz="3200" spc="-25" dirty="0">
                <a:solidFill>
                  <a:srgbClr val="000000"/>
                </a:solidFill>
                <a:latin typeface="Times New Roman"/>
                <a:cs typeface="Times New Roman"/>
              </a:rPr>
              <a:t>Project</a:t>
            </a:r>
            <a:r>
              <a:rPr lang="en-US" sz="3200" spc="-35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sz="3200" spc="-30" dirty="0">
                <a:solidFill>
                  <a:srgbClr val="000000"/>
                </a:solidFill>
                <a:latin typeface="Times New Roman"/>
                <a:cs typeface="Times New Roman"/>
              </a:rPr>
              <a:t>Assessment-</a:t>
            </a:r>
            <a:r>
              <a:rPr lang="en-US" sz="3200" spc="-50" dirty="0">
                <a:solidFill>
                  <a:srgbClr val="000000"/>
                </a:solidFill>
                <a:latin typeface="Times New Roman"/>
                <a:cs typeface="Times New Roman"/>
              </a:rPr>
              <a:t>I </a:t>
            </a:r>
            <a:r>
              <a:rPr lang="en-US" sz="3200" spc="-25" dirty="0">
                <a:solidFill>
                  <a:srgbClr val="000000"/>
                </a:solidFill>
                <a:latin typeface="Times New Roman"/>
                <a:cs typeface="Times New Roman"/>
              </a:rPr>
              <a:t>on</a:t>
            </a:r>
            <a:endParaRPr lang="en-US" sz="3200" dirty="0">
              <a:latin typeface="Times New Roman"/>
              <a:cs typeface="Times New Roman"/>
            </a:endParaRPr>
          </a:p>
          <a:p>
            <a:pPr marL="2540"/>
            <a:r>
              <a:rPr lang="en-US" sz="3200" dirty="0">
                <a:latin typeface="Times New Roman"/>
                <a:cs typeface="Times New Roman"/>
              </a:rPr>
              <a:t>“</a:t>
            </a:r>
            <a:r>
              <a:rPr lang="en-IN" sz="2800" dirty="0"/>
              <a:t>LIBRARY MANAGEMENT SYSTEM</a:t>
            </a:r>
            <a:r>
              <a:rPr lang="en-US" sz="3200" spc="-10" dirty="0">
                <a:latin typeface="Times New Roman"/>
                <a:cs typeface="Times New Roman"/>
              </a:rPr>
              <a:t>”</a:t>
            </a:r>
            <a:endParaRPr lang="en-US" sz="3200" dirty="0">
              <a:latin typeface="Times New Roman"/>
              <a:cs typeface="Times New Roman"/>
            </a:endParaRPr>
          </a:p>
        </p:txBody>
      </p:sp>
      <p:sp>
        <p:nvSpPr>
          <p:cNvPr id="9" name="object 3">
            <a:extLst>
              <a:ext uri="{FF2B5EF4-FFF2-40B4-BE49-F238E27FC236}">
                <a16:creationId xmlns:a16="http://schemas.microsoft.com/office/drawing/2014/main" id="{18FAE39F-8DF9-7A13-AF5B-CC4A57A75B91}"/>
              </a:ext>
            </a:extLst>
          </p:cNvPr>
          <p:cNvSpPr txBox="1"/>
          <p:nvPr/>
        </p:nvSpPr>
        <p:spPr>
          <a:xfrm>
            <a:off x="2968988" y="1999504"/>
            <a:ext cx="6595109" cy="82041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algn="ctr">
              <a:spcBef>
                <a:spcPts val="100"/>
              </a:spcBef>
            </a:pPr>
            <a:r>
              <a:rPr sz="2800" b="1" dirty="0">
                <a:solidFill>
                  <a:srgbClr val="0000FF"/>
                </a:solidFill>
                <a:latin typeface="Times New Roman"/>
                <a:cs typeface="Times New Roman"/>
              </a:rPr>
              <a:t>under</a:t>
            </a:r>
            <a:r>
              <a:rPr sz="2800" b="1" spc="-125" dirty="0">
                <a:solidFill>
                  <a:srgbClr val="0000FF"/>
                </a:solidFill>
                <a:latin typeface="Times New Roman"/>
                <a:cs typeface="Times New Roman"/>
              </a:rPr>
              <a:t> </a:t>
            </a:r>
            <a:r>
              <a:rPr sz="2800" b="1" dirty="0">
                <a:solidFill>
                  <a:srgbClr val="0000FF"/>
                </a:solidFill>
                <a:latin typeface="Times New Roman"/>
                <a:cs typeface="Times New Roman"/>
              </a:rPr>
              <a:t>the</a:t>
            </a:r>
            <a:r>
              <a:rPr sz="2800" b="1" spc="-75" dirty="0">
                <a:solidFill>
                  <a:srgbClr val="0000FF"/>
                </a:solidFill>
                <a:latin typeface="Times New Roman"/>
                <a:cs typeface="Times New Roman"/>
              </a:rPr>
              <a:t> </a:t>
            </a:r>
            <a:r>
              <a:rPr sz="2800" b="1" spc="-10" dirty="0">
                <a:solidFill>
                  <a:srgbClr val="0000FF"/>
                </a:solidFill>
                <a:latin typeface="Times New Roman"/>
                <a:cs typeface="Times New Roman"/>
              </a:rPr>
              <a:t>course</a:t>
            </a:r>
            <a:endParaRPr sz="2800" dirty="0">
              <a:latin typeface="Times New Roman"/>
              <a:cs typeface="Times New Roman"/>
            </a:endParaRPr>
          </a:p>
          <a:p>
            <a:pPr algn="ctr">
              <a:spcBef>
                <a:spcPts val="15"/>
              </a:spcBef>
            </a:pPr>
            <a:r>
              <a:rPr sz="2400" b="1" dirty="0">
                <a:solidFill>
                  <a:srgbClr val="0000FF"/>
                </a:solidFill>
                <a:latin typeface="Times New Roman"/>
                <a:cs typeface="Times New Roman"/>
              </a:rPr>
              <a:t>Python</a:t>
            </a:r>
            <a:r>
              <a:rPr sz="2400" b="1" spc="-95" dirty="0">
                <a:solidFill>
                  <a:srgbClr val="0000FF"/>
                </a:solidFill>
                <a:latin typeface="Times New Roman"/>
                <a:cs typeface="Times New Roman"/>
              </a:rPr>
              <a:t> </a:t>
            </a:r>
            <a:r>
              <a:rPr sz="2400" b="1" dirty="0">
                <a:solidFill>
                  <a:srgbClr val="0000FF"/>
                </a:solidFill>
                <a:latin typeface="Times New Roman"/>
                <a:cs typeface="Times New Roman"/>
              </a:rPr>
              <a:t>Programming</a:t>
            </a:r>
            <a:r>
              <a:rPr sz="2400" b="1" spc="-90" dirty="0">
                <a:solidFill>
                  <a:srgbClr val="0000FF"/>
                </a:solidFill>
                <a:latin typeface="Times New Roman"/>
                <a:cs typeface="Times New Roman"/>
              </a:rPr>
              <a:t> </a:t>
            </a:r>
            <a:r>
              <a:rPr sz="2400" b="1" dirty="0">
                <a:solidFill>
                  <a:srgbClr val="0000FF"/>
                </a:solidFill>
                <a:latin typeface="Times New Roman"/>
                <a:cs typeface="Times New Roman"/>
              </a:rPr>
              <a:t>Language</a:t>
            </a:r>
            <a:r>
              <a:rPr sz="2400" b="1" spc="-90" dirty="0">
                <a:solidFill>
                  <a:srgbClr val="0000FF"/>
                </a:solidFill>
                <a:latin typeface="Times New Roman"/>
                <a:cs typeface="Times New Roman"/>
              </a:rPr>
              <a:t> </a:t>
            </a:r>
            <a:r>
              <a:rPr sz="2400" b="1" spc="-20" dirty="0">
                <a:solidFill>
                  <a:srgbClr val="0000FF"/>
                </a:solidFill>
                <a:latin typeface="Times New Roman"/>
                <a:cs typeface="Times New Roman"/>
              </a:rPr>
              <a:t>(N-</a:t>
            </a:r>
            <a:r>
              <a:rPr sz="2400" b="1" spc="-10" dirty="0">
                <a:solidFill>
                  <a:srgbClr val="0000FF"/>
                </a:solidFill>
                <a:latin typeface="Times New Roman"/>
                <a:cs typeface="Times New Roman"/>
              </a:rPr>
              <a:t>PCCCM304P)</a:t>
            </a:r>
            <a:endParaRPr sz="2400" dirty="0">
              <a:latin typeface="Times New Roman"/>
              <a:cs typeface="Times New Roman"/>
            </a:endParaRPr>
          </a:p>
        </p:txBody>
      </p:sp>
      <p:sp>
        <p:nvSpPr>
          <p:cNvPr id="10" name="object 4">
            <a:extLst>
              <a:ext uri="{FF2B5EF4-FFF2-40B4-BE49-F238E27FC236}">
                <a16:creationId xmlns:a16="http://schemas.microsoft.com/office/drawing/2014/main" id="{A127ECC0-5FD6-CAB5-36FD-061901F97131}"/>
              </a:ext>
            </a:extLst>
          </p:cNvPr>
          <p:cNvSpPr txBox="1"/>
          <p:nvPr/>
        </p:nvSpPr>
        <p:spPr>
          <a:xfrm>
            <a:off x="2254046" y="3182960"/>
            <a:ext cx="3156155" cy="641201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spcBef>
                <a:spcPts val="100"/>
              </a:spcBef>
            </a:pPr>
            <a:r>
              <a:rPr sz="2000" b="1" dirty="0">
                <a:latin typeface="Times New Roman"/>
                <a:cs typeface="Times New Roman"/>
              </a:rPr>
              <a:t>Presented</a:t>
            </a:r>
            <a:r>
              <a:rPr sz="2000" b="1" spc="-105" dirty="0">
                <a:latin typeface="Times New Roman"/>
                <a:cs typeface="Times New Roman"/>
              </a:rPr>
              <a:t> </a:t>
            </a:r>
            <a:r>
              <a:rPr sz="2000" b="1" spc="-25" dirty="0">
                <a:latin typeface="Times New Roman"/>
                <a:cs typeface="Times New Roman"/>
              </a:rPr>
              <a:t>By</a:t>
            </a:r>
            <a:r>
              <a:rPr lang="en-IN" sz="2000" b="1" spc="-25" dirty="0">
                <a:latin typeface="Times New Roman"/>
                <a:cs typeface="Times New Roman"/>
              </a:rPr>
              <a:t>:-</a:t>
            </a:r>
          </a:p>
          <a:p>
            <a:pPr marL="12700">
              <a:spcBef>
                <a:spcPts val="100"/>
              </a:spcBef>
            </a:pPr>
            <a:r>
              <a:rPr lang="en-IN" sz="2000" b="1" spc="-25" dirty="0">
                <a:latin typeface="Times New Roman"/>
                <a:cs typeface="Times New Roman"/>
              </a:rPr>
              <a:t>Samiksha K. Bawankar</a:t>
            </a:r>
            <a:endParaRPr sz="2000" dirty="0">
              <a:latin typeface="Times New Roman"/>
              <a:cs typeface="Times New Roman"/>
            </a:endParaRPr>
          </a:p>
        </p:txBody>
      </p:sp>
      <p:sp>
        <p:nvSpPr>
          <p:cNvPr id="11" name="object 5">
            <a:extLst>
              <a:ext uri="{FF2B5EF4-FFF2-40B4-BE49-F238E27FC236}">
                <a16:creationId xmlns:a16="http://schemas.microsoft.com/office/drawing/2014/main" id="{35A83C5B-335D-24B0-9767-88FD82FA81F8}"/>
              </a:ext>
            </a:extLst>
          </p:cNvPr>
          <p:cNvSpPr txBox="1"/>
          <p:nvPr/>
        </p:nvSpPr>
        <p:spPr>
          <a:xfrm>
            <a:off x="7852342" y="3053623"/>
            <a:ext cx="2219325" cy="9398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004569" marR="5080" indent="-992505">
              <a:spcBef>
                <a:spcPts val="100"/>
              </a:spcBef>
            </a:pPr>
            <a:r>
              <a:rPr sz="2000" b="1" dirty="0">
                <a:latin typeface="Times New Roman"/>
                <a:cs typeface="Times New Roman"/>
              </a:rPr>
              <a:t>Under</a:t>
            </a:r>
            <a:r>
              <a:rPr sz="2000" b="1" spc="-85" dirty="0">
                <a:latin typeface="Times New Roman"/>
                <a:cs typeface="Times New Roman"/>
              </a:rPr>
              <a:t> </a:t>
            </a:r>
            <a:r>
              <a:rPr sz="2000" b="1" dirty="0">
                <a:latin typeface="Times New Roman"/>
                <a:cs typeface="Times New Roman"/>
              </a:rPr>
              <a:t>the</a:t>
            </a:r>
            <a:r>
              <a:rPr sz="2000" b="1" spc="-45" dirty="0">
                <a:latin typeface="Times New Roman"/>
                <a:cs typeface="Times New Roman"/>
              </a:rPr>
              <a:t> </a:t>
            </a:r>
            <a:r>
              <a:rPr sz="2000" b="1" spc="-10" dirty="0">
                <a:latin typeface="Times New Roman"/>
                <a:cs typeface="Times New Roman"/>
              </a:rPr>
              <a:t>Guidance </a:t>
            </a:r>
            <a:r>
              <a:rPr sz="2000" b="1" spc="-25" dirty="0">
                <a:latin typeface="Times New Roman"/>
                <a:cs typeface="Times New Roman"/>
              </a:rPr>
              <a:t>of</a:t>
            </a:r>
            <a:endParaRPr sz="2000" dirty="0">
              <a:latin typeface="Times New Roman"/>
              <a:cs typeface="Times New Roman"/>
            </a:endParaRPr>
          </a:p>
          <a:p>
            <a:pPr marL="20955"/>
            <a:r>
              <a:rPr sz="2000" b="1" dirty="0">
                <a:latin typeface="Times New Roman"/>
                <a:cs typeface="Times New Roman"/>
              </a:rPr>
              <a:t>Mrs.</a:t>
            </a:r>
            <a:r>
              <a:rPr sz="2000" b="1" spc="-15" dirty="0">
                <a:latin typeface="Times New Roman"/>
                <a:cs typeface="Times New Roman"/>
              </a:rPr>
              <a:t> </a:t>
            </a:r>
            <a:r>
              <a:rPr sz="2000" b="1" dirty="0">
                <a:latin typeface="Times New Roman"/>
                <a:cs typeface="Times New Roman"/>
              </a:rPr>
              <a:t>Mayuri</a:t>
            </a:r>
            <a:r>
              <a:rPr sz="2000" b="1" spc="-15" dirty="0">
                <a:latin typeface="Times New Roman"/>
                <a:cs typeface="Times New Roman"/>
              </a:rPr>
              <a:t> </a:t>
            </a:r>
            <a:r>
              <a:rPr sz="2000" b="1" spc="-10" dirty="0">
                <a:latin typeface="Times New Roman"/>
                <a:cs typeface="Times New Roman"/>
              </a:rPr>
              <a:t>Getme</a:t>
            </a:r>
            <a:endParaRPr sz="2000" dirty="0">
              <a:latin typeface="Times New Roman"/>
              <a:cs typeface="Times New Roman"/>
            </a:endParaRPr>
          </a:p>
        </p:txBody>
      </p:sp>
      <p:pic>
        <p:nvPicPr>
          <p:cNvPr id="12" name="object 6">
            <a:extLst>
              <a:ext uri="{FF2B5EF4-FFF2-40B4-BE49-F238E27FC236}">
                <a16:creationId xmlns:a16="http://schemas.microsoft.com/office/drawing/2014/main" id="{D06A77FA-E5AB-4A26-D88B-05063DA79D33}"/>
              </a:ext>
            </a:extLst>
          </p:cNvPr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5410200" y="3032153"/>
            <a:ext cx="1455566" cy="1024411"/>
          </a:xfrm>
          <a:prstGeom prst="rect">
            <a:avLst/>
          </a:prstGeom>
        </p:spPr>
      </p:pic>
      <p:sp>
        <p:nvSpPr>
          <p:cNvPr id="13" name="object 7">
            <a:extLst>
              <a:ext uri="{FF2B5EF4-FFF2-40B4-BE49-F238E27FC236}">
                <a16:creationId xmlns:a16="http://schemas.microsoft.com/office/drawing/2014/main" id="{D9BE8093-A82C-A6B4-1E7E-9913351FAC9C}"/>
              </a:ext>
            </a:extLst>
          </p:cNvPr>
          <p:cNvSpPr txBox="1"/>
          <p:nvPr/>
        </p:nvSpPr>
        <p:spPr>
          <a:xfrm>
            <a:off x="2664287" y="4419601"/>
            <a:ext cx="7976870" cy="203390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315210">
              <a:spcBef>
                <a:spcPts val="100"/>
              </a:spcBef>
            </a:pPr>
            <a:r>
              <a:rPr sz="2200" b="1" spc="-10" dirty="0">
                <a:latin typeface="Times New Roman"/>
                <a:cs typeface="Times New Roman"/>
              </a:rPr>
              <a:t>Session:2026-</a:t>
            </a:r>
            <a:r>
              <a:rPr sz="2200" b="1" dirty="0">
                <a:latin typeface="Times New Roman"/>
                <a:cs typeface="Times New Roman"/>
              </a:rPr>
              <a:t>27</a:t>
            </a:r>
            <a:r>
              <a:rPr sz="2200" b="1" spc="-55" dirty="0">
                <a:latin typeface="Times New Roman"/>
                <a:cs typeface="Times New Roman"/>
              </a:rPr>
              <a:t> </a:t>
            </a:r>
            <a:r>
              <a:rPr sz="2200" b="1" dirty="0">
                <a:latin typeface="Times New Roman"/>
                <a:cs typeface="Times New Roman"/>
              </a:rPr>
              <a:t>(ODD</a:t>
            </a:r>
            <a:r>
              <a:rPr sz="2200" b="1" spc="-50" dirty="0">
                <a:latin typeface="Times New Roman"/>
                <a:cs typeface="Times New Roman"/>
              </a:rPr>
              <a:t> )</a:t>
            </a:r>
            <a:endParaRPr sz="2200" dirty="0">
              <a:latin typeface="Times New Roman"/>
              <a:cs typeface="Times New Roman"/>
            </a:endParaRPr>
          </a:p>
          <a:p>
            <a:pPr marL="2287905">
              <a:spcBef>
                <a:spcPts val="15"/>
              </a:spcBef>
            </a:pPr>
            <a:r>
              <a:rPr b="1" dirty="0">
                <a:latin typeface="Times New Roman"/>
                <a:cs typeface="Times New Roman"/>
              </a:rPr>
              <a:t>Department</a:t>
            </a:r>
            <a:r>
              <a:rPr b="1" spc="-55" dirty="0">
                <a:latin typeface="Times New Roman"/>
                <a:cs typeface="Times New Roman"/>
              </a:rPr>
              <a:t> </a:t>
            </a:r>
            <a:r>
              <a:rPr b="1" dirty="0">
                <a:latin typeface="Times New Roman"/>
                <a:cs typeface="Times New Roman"/>
              </a:rPr>
              <a:t>of</a:t>
            </a:r>
            <a:r>
              <a:rPr b="1" spc="-55" dirty="0">
                <a:latin typeface="Times New Roman"/>
                <a:cs typeface="Times New Roman"/>
              </a:rPr>
              <a:t> </a:t>
            </a:r>
            <a:r>
              <a:rPr b="1" spc="-10" dirty="0">
                <a:latin typeface="Times New Roman"/>
                <a:cs typeface="Times New Roman"/>
              </a:rPr>
              <a:t>CSE(AI&amp;ML)</a:t>
            </a:r>
            <a:endParaRPr dirty="0">
              <a:latin typeface="Times New Roman"/>
              <a:cs typeface="Times New Roman"/>
            </a:endParaRPr>
          </a:p>
          <a:p>
            <a:pPr marL="12700">
              <a:lnSpc>
                <a:spcPts val="2340"/>
              </a:lnSpc>
              <a:spcBef>
                <a:spcPts val="635"/>
              </a:spcBef>
            </a:pPr>
            <a:r>
              <a:rPr sz="2000" b="1" dirty="0">
                <a:latin typeface="Times New Roman"/>
                <a:cs typeface="Times New Roman"/>
              </a:rPr>
              <a:t>S.</a:t>
            </a:r>
            <a:r>
              <a:rPr sz="2000" b="1" spc="-30" dirty="0">
                <a:latin typeface="Times New Roman"/>
                <a:cs typeface="Times New Roman"/>
              </a:rPr>
              <a:t> </a:t>
            </a:r>
            <a:r>
              <a:rPr sz="2000" b="1" dirty="0">
                <a:latin typeface="Times New Roman"/>
                <a:cs typeface="Times New Roman"/>
              </a:rPr>
              <a:t>B.</a:t>
            </a:r>
            <a:r>
              <a:rPr sz="2000" b="1" spc="-15" dirty="0">
                <a:latin typeface="Times New Roman"/>
                <a:cs typeface="Times New Roman"/>
              </a:rPr>
              <a:t> </a:t>
            </a:r>
            <a:r>
              <a:rPr sz="2000" b="1" dirty="0">
                <a:latin typeface="Times New Roman"/>
                <a:cs typeface="Times New Roman"/>
              </a:rPr>
              <a:t>JAIN</a:t>
            </a:r>
            <a:r>
              <a:rPr sz="2000" b="1" spc="-20" dirty="0">
                <a:latin typeface="Times New Roman"/>
                <a:cs typeface="Times New Roman"/>
              </a:rPr>
              <a:t> </a:t>
            </a:r>
            <a:r>
              <a:rPr sz="2000" b="1" spc="-10" dirty="0">
                <a:latin typeface="Times New Roman"/>
                <a:cs typeface="Times New Roman"/>
              </a:rPr>
              <a:t>INSTITUTE</a:t>
            </a:r>
            <a:r>
              <a:rPr sz="2000" b="1" spc="-20" dirty="0">
                <a:latin typeface="Times New Roman"/>
                <a:cs typeface="Times New Roman"/>
              </a:rPr>
              <a:t> </a:t>
            </a:r>
            <a:r>
              <a:rPr sz="2000" b="1" dirty="0">
                <a:latin typeface="Times New Roman"/>
                <a:cs typeface="Times New Roman"/>
              </a:rPr>
              <a:t>OF</a:t>
            </a:r>
            <a:r>
              <a:rPr sz="2000" b="1" spc="-125" dirty="0">
                <a:latin typeface="Times New Roman"/>
                <a:cs typeface="Times New Roman"/>
              </a:rPr>
              <a:t> </a:t>
            </a:r>
            <a:r>
              <a:rPr sz="2000" b="1" spc="-20" dirty="0">
                <a:latin typeface="Times New Roman"/>
                <a:cs typeface="Times New Roman"/>
              </a:rPr>
              <a:t>TECHNOLOGY</a:t>
            </a:r>
            <a:r>
              <a:rPr sz="2000" b="1" spc="-90" dirty="0">
                <a:latin typeface="Times New Roman"/>
                <a:cs typeface="Times New Roman"/>
              </a:rPr>
              <a:t> </a:t>
            </a:r>
            <a:r>
              <a:rPr sz="2000" b="1" spc="-25" dirty="0">
                <a:latin typeface="Times New Roman"/>
                <a:cs typeface="Times New Roman"/>
              </a:rPr>
              <a:t>MANAGEMENT</a:t>
            </a:r>
            <a:r>
              <a:rPr sz="2000" b="1" spc="-150" dirty="0">
                <a:latin typeface="Times New Roman"/>
                <a:cs typeface="Times New Roman"/>
              </a:rPr>
              <a:t> </a:t>
            </a:r>
            <a:r>
              <a:rPr sz="2000" b="1" spc="-25" dirty="0">
                <a:latin typeface="Times New Roman"/>
                <a:cs typeface="Times New Roman"/>
              </a:rPr>
              <a:t>AND</a:t>
            </a:r>
            <a:endParaRPr sz="2000" dirty="0">
              <a:latin typeface="Times New Roman"/>
              <a:cs typeface="Times New Roman"/>
            </a:endParaRPr>
          </a:p>
          <a:p>
            <a:pPr marL="2265045">
              <a:lnSpc>
                <a:spcPts val="2255"/>
              </a:lnSpc>
            </a:pPr>
            <a:r>
              <a:rPr sz="2000" b="1" spc="-10" dirty="0">
                <a:latin typeface="Times New Roman"/>
                <a:cs typeface="Times New Roman"/>
              </a:rPr>
              <a:t>RESEARCH,NAGPUR</a:t>
            </a:r>
            <a:endParaRPr sz="2000" dirty="0">
              <a:latin typeface="Times New Roman"/>
              <a:cs typeface="Times New Roman"/>
            </a:endParaRPr>
          </a:p>
          <a:p>
            <a:pPr marL="481330">
              <a:lnSpc>
                <a:spcPts val="2315"/>
              </a:lnSpc>
            </a:pPr>
            <a:r>
              <a:rPr sz="2000" b="1" spc="-20" dirty="0">
                <a:latin typeface="Times New Roman"/>
                <a:cs typeface="Times New Roman"/>
              </a:rPr>
              <a:t>An</a:t>
            </a:r>
            <a:r>
              <a:rPr sz="2000" b="1" spc="-114" dirty="0">
                <a:latin typeface="Times New Roman"/>
                <a:cs typeface="Times New Roman"/>
              </a:rPr>
              <a:t> </a:t>
            </a:r>
            <a:r>
              <a:rPr sz="2000" b="1" dirty="0">
                <a:latin typeface="Times New Roman"/>
                <a:cs typeface="Times New Roman"/>
              </a:rPr>
              <a:t>Autonomous</a:t>
            </a:r>
            <a:r>
              <a:rPr sz="2000" b="1" spc="-75" dirty="0">
                <a:latin typeface="Times New Roman"/>
                <a:cs typeface="Times New Roman"/>
              </a:rPr>
              <a:t> </a:t>
            </a:r>
            <a:r>
              <a:rPr sz="2000" b="1" dirty="0">
                <a:latin typeface="Times New Roman"/>
                <a:cs typeface="Times New Roman"/>
              </a:rPr>
              <a:t>Institute,</a:t>
            </a:r>
            <a:r>
              <a:rPr sz="2000" b="1" spc="-125" dirty="0">
                <a:latin typeface="Times New Roman"/>
                <a:cs typeface="Times New Roman"/>
              </a:rPr>
              <a:t> </a:t>
            </a:r>
            <a:r>
              <a:rPr sz="2000" b="1" dirty="0">
                <a:latin typeface="Times New Roman"/>
                <a:cs typeface="Times New Roman"/>
              </a:rPr>
              <a:t>Affiliated</a:t>
            </a:r>
            <a:r>
              <a:rPr sz="2000" b="1" spc="-35" dirty="0">
                <a:latin typeface="Times New Roman"/>
                <a:cs typeface="Times New Roman"/>
              </a:rPr>
              <a:t> </a:t>
            </a:r>
            <a:r>
              <a:rPr sz="2000" b="1" dirty="0">
                <a:latin typeface="Times New Roman"/>
                <a:cs typeface="Times New Roman"/>
              </a:rPr>
              <a:t>to</a:t>
            </a:r>
            <a:r>
              <a:rPr sz="2000" b="1" spc="-30" dirty="0">
                <a:latin typeface="Times New Roman"/>
                <a:cs typeface="Times New Roman"/>
              </a:rPr>
              <a:t> </a:t>
            </a:r>
            <a:r>
              <a:rPr sz="2000" b="1" spc="-10" dirty="0">
                <a:latin typeface="Times New Roman"/>
                <a:cs typeface="Times New Roman"/>
              </a:rPr>
              <a:t>RTMNU,</a:t>
            </a:r>
            <a:r>
              <a:rPr sz="2000" b="1" spc="-35" dirty="0">
                <a:latin typeface="Times New Roman"/>
                <a:cs typeface="Times New Roman"/>
              </a:rPr>
              <a:t> </a:t>
            </a:r>
            <a:r>
              <a:rPr sz="2000" b="1" spc="-10" dirty="0">
                <a:latin typeface="Times New Roman"/>
                <a:cs typeface="Times New Roman"/>
              </a:rPr>
              <a:t>Nagpur</a:t>
            </a:r>
            <a:endParaRPr sz="2000" dirty="0">
              <a:latin typeface="Times New Roman"/>
              <a:cs typeface="Times New Roman"/>
            </a:endParaRPr>
          </a:p>
          <a:p>
            <a:pPr marR="5080" algn="r">
              <a:spcBef>
                <a:spcPts val="1770"/>
              </a:spcBef>
            </a:pPr>
            <a:r>
              <a:rPr sz="1400" b="1" spc="-50" dirty="0">
                <a:solidFill>
                  <a:srgbClr val="FFFFFF"/>
                </a:solidFill>
                <a:latin typeface="Arial"/>
                <a:cs typeface="Arial"/>
              </a:rPr>
              <a:t>)</a:t>
            </a:r>
            <a:endParaRPr sz="1400" dirty="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8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94360" y="438912"/>
            <a:ext cx="109728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700" b="1">
                <a:solidFill>
                  <a:srgbClr val="192D4B"/>
                </a:solidFill>
                <a:latin typeface="Aptos"/>
              </a:rPr>
              <a:t>LIBRARY MANAGEMENT SYSTEM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417320"/>
            <a:ext cx="10744200" cy="425196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0EA5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1097280" y="182880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000" b="1">
                <a:solidFill>
                  <a:srgbClr val="2563EB"/>
                </a:solidFill>
                <a:latin typeface="Aptos"/>
              </a:rPr>
              <a:t>Python-Based Digital Library Management System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371600" y="2743200"/>
            <a:ext cx="941832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0">
                <a:solidFill>
                  <a:srgbClr val="1F2937"/>
                </a:solidFill>
                <a:latin typeface="Aptos"/>
              </a:rPr>
              <a:t>Developed using Python</a:t>
            </a:r>
            <a:br/>
            <a:r>
              <a:t>JSON-based data storage</a:t>
            </a:r>
            <a:br/>
            <a:r>
              <a:t>Developed in VS Code</a:t>
            </a:r>
            <a:br/>
            <a:r>
              <a:t>Presented by: Samiksha Kushab Bawankar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6446520"/>
            <a:ext cx="7772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64748B"/>
                </a:solidFill>
                <a:latin typeface="Aptos"/>
              </a:rPr>
              <a:t>Library Management System • Python + JSON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2800" y="6446520"/>
            <a:ext cx="6400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>
                <a:solidFill>
                  <a:srgbClr val="64748B"/>
                </a:solidFill>
                <a:latin typeface="Aptos"/>
              </a:rPr>
              <a:t>1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8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94360" y="438912"/>
            <a:ext cx="109728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700" b="1">
                <a:solidFill>
                  <a:srgbClr val="192D4B"/>
                </a:solidFill>
                <a:latin typeface="Aptos"/>
              </a:rPr>
              <a:t>Problem Statement &amp; Objective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1325880"/>
            <a:ext cx="106070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>
                <a:solidFill>
                  <a:srgbClr val="2563EB"/>
                </a:solidFill>
                <a:latin typeface="Aptos"/>
              </a:rPr>
              <a:t>PROBLEM STATEMENT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60120" y="1709928"/>
            <a:ext cx="1014984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1F2937"/>
                </a:solidFill>
                <a:latin typeface="Aptos"/>
              </a:rPr>
              <a:t>• Manual management of books and members is time-consuming.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60120" y="2148839"/>
            <a:ext cx="1014984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1F2937"/>
                </a:solidFill>
                <a:latin typeface="Aptos"/>
              </a:rPr>
              <a:t>• Tracking issued and returned books is difficult.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60120" y="2587751"/>
            <a:ext cx="1014984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1F2937"/>
                </a:solidFill>
                <a:latin typeface="Aptos"/>
              </a:rPr>
              <a:t>• Fine calculation can be error-prone.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60120" y="3026663"/>
            <a:ext cx="1014984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1F2937"/>
                </a:solidFill>
                <a:latin typeface="Aptos"/>
              </a:rPr>
              <a:t>• Maintaining transaction records manually is inefficient.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3575303"/>
            <a:ext cx="106070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>
                <a:solidFill>
                  <a:srgbClr val="2563EB"/>
                </a:solidFill>
                <a:latin typeface="Aptos"/>
              </a:rPr>
              <a:t>OBJECTIVE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60120" y="3959352"/>
            <a:ext cx="1014984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1F2937"/>
                </a:solidFill>
                <a:latin typeface="Aptos"/>
              </a:rPr>
              <a:t>• Digitize library operations.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60120" y="4398264"/>
            <a:ext cx="1014984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1F2937"/>
                </a:solidFill>
                <a:latin typeface="Aptos"/>
              </a:rPr>
              <a:t>• Manage books and members efficiently.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60120" y="4837176"/>
            <a:ext cx="1014984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1F2937"/>
                </a:solidFill>
                <a:latin typeface="Aptos"/>
              </a:rPr>
              <a:t>• Automate issue, return and fine calculation.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60120" y="5276088"/>
            <a:ext cx="1014984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1F2937"/>
                </a:solidFill>
                <a:latin typeface="Aptos"/>
              </a:rPr>
              <a:t>• Maintain transaction records securely.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94360" y="6446520"/>
            <a:ext cx="7772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64748B"/>
                </a:solidFill>
                <a:latin typeface="Aptos"/>
              </a:rPr>
              <a:t>Library Management System • Python + JSON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972800" y="6446520"/>
            <a:ext cx="6400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>
                <a:solidFill>
                  <a:srgbClr val="64748B"/>
                </a:solidFill>
                <a:latin typeface="Aptos"/>
              </a:rPr>
              <a:t>2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8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94360" y="438912"/>
            <a:ext cx="109728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700" b="1">
                <a:solidFill>
                  <a:srgbClr val="192D4B"/>
                </a:solidFill>
                <a:latin typeface="Aptos"/>
              </a:rPr>
              <a:t>Key Features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1325880"/>
            <a:ext cx="106070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>
                <a:solidFill>
                  <a:srgbClr val="2563EB"/>
                </a:solidFill>
                <a:latin typeface="Aptos"/>
              </a:rPr>
              <a:t>BOOK MANAGEMENT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60120" y="1709928"/>
            <a:ext cx="1014984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1F2937"/>
                </a:solidFill>
                <a:latin typeface="Aptos"/>
              </a:rPr>
              <a:t>• Add, update, search and remove books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60120" y="2148839"/>
            <a:ext cx="1014984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1F2937"/>
                </a:solidFill>
                <a:latin typeface="Aptos"/>
              </a:rPr>
              <a:t>• ISBN and category management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60120" y="2587751"/>
            <a:ext cx="1014984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1F2937"/>
                </a:solidFill>
                <a:latin typeface="Aptos"/>
              </a:rPr>
              <a:t>• Track total and available copies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3136391"/>
            <a:ext cx="106070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>
                <a:solidFill>
                  <a:srgbClr val="2563EB"/>
                </a:solidFill>
                <a:latin typeface="Aptos"/>
              </a:rPr>
              <a:t>MEMBER MANAGEMENT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60120" y="3520439"/>
            <a:ext cx="1014984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1F2937"/>
                </a:solidFill>
                <a:latin typeface="Aptos"/>
              </a:rPr>
              <a:t>• Register and update members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60120" y="3959352"/>
            <a:ext cx="1014984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1F2937"/>
                </a:solidFill>
                <a:latin typeface="Aptos"/>
              </a:rPr>
              <a:t>• Email and phone validation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60120" y="4398264"/>
            <a:ext cx="1014984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1F2937"/>
                </a:solidFill>
                <a:latin typeface="Aptos"/>
              </a:rPr>
              <a:t>• Activate/deactivate members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77240" y="4946904"/>
            <a:ext cx="106070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>
                <a:solidFill>
                  <a:srgbClr val="2563EB"/>
                </a:solidFill>
                <a:latin typeface="Aptos"/>
              </a:rPr>
              <a:t>TRANSACTION MANAGEMENT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60120" y="5330952"/>
            <a:ext cx="1014984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1F2937"/>
                </a:solidFill>
                <a:latin typeface="Aptos"/>
              </a:rPr>
              <a:t>• Issue and return books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60120" y="5769864"/>
            <a:ext cx="1014984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1F2937"/>
                </a:solidFill>
                <a:latin typeface="Aptos"/>
              </a:rPr>
              <a:t>• Transaction history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94360" y="6446520"/>
            <a:ext cx="7772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64748B"/>
                </a:solidFill>
                <a:latin typeface="Aptos"/>
              </a:rPr>
              <a:t>Library Management System • Python + JSON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972800" y="6446520"/>
            <a:ext cx="6400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>
                <a:solidFill>
                  <a:srgbClr val="64748B"/>
                </a:solidFill>
                <a:latin typeface="Aptos"/>
              </a:rPr>
              <a:t>3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8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94360" y="438912"/>
            <a:ext cx="109728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700" b="1">
                <a:solidFill>
                  <a:srgbClr val="192D4B"/>
                </a:solidFill>
                <a:latin typeface="Aptos"/>
              </a:rPr>
              <a:t>System Workflow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1828800" y="1417320"/>
            <a:ext cx="8503920" cy="594360"/>
          </a:xfrm>
          <a:prstGeom prst="roundRect">
            <a:avLst/>
          </a:prstGeom>
          <a:solidFill>
            <a:srgbClr val="FFFFFF"/>
          </a:solidFill>
          <a:ln>
            <a:solidFill>
              <a:srgbClr val="0EA5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1920240" y="1490472"/>
            <a:ext cx="83210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700" b="1">
                <a:solidFill>
                  <a:srgbClr val="192D4B"/>
                </a:solidFill>
                <a:latin typeface="Aptos"/>
              </a:rPr>
              <a:t>ADMIN LOGIN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0" y="2148840"/>
            <a:ext cx="11887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>
                <a:solidFill>
                  <a:srgbClr val="0EA5E9"/>
                </a:solidFill>
                <a:latin typeface="Aptos"/>
              </a:rPr>
              <a:t>↓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1828800" y="2560320"/>
            <a:ext cx="8503920" cy="594360"/>
          </a:xfrm>
          <a:prstGeom prst="roundRect">
            <a:avLst/>
          </a:prstGeom>
          <a:solidFill>
            <a:srgbClr val="FFFFFF"/>
          </a:solidFill>
          <a:ln>
            <a:solidFill>
              <a:srgbClr val="0EA5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1920240" y="2633472"/>
            <a:ext cx="83210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700" b="1">
                <a:solidFill>
                  <a:srgbClr val="192D4B"/>
                </a:solidFill>
                <a:latin typeface="Aptos"/>
              </a:rPr>
              <a:t>MAIN DASHBOARD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0" y="3291840"/>
            <a:ext cx="11887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>
                <a:solidFill>
                  <a:srgbClr val="0EA5E9"/>
                </a:solidFill>
                <a:latin typeface="Aptos"/>
              </a:rPr>
              <a:t>↓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914400" y="3703320"/>
            <a:ext cx="10332720" cy="594360"/>
          </a:xfrm>
          <a:prstGeom prst="roundRect">
            <a:avLst/>
          </a:prstGeom>
          <a:solidFill>
            <a:srgbClr val="FFFFFF"/>
          </a:solidFill>
          <a:ln>
            <a:solidFill>
              <a:srgbClr val="0EA5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1051560" y="3776472"/>
            <a:ext cx="10058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700" b="1">
                <a:solidFill>
                  <a:srgbClr val="192D4B"/>
                </a:solidFill>
                <a:latin typeface="Aptos"/>
              </a:rPr>
              <a:t>BOOK MANAGEMENT  |  MEMBER MANAGEMENT  |  TRANSACTION MANAGEMENT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86400" y="4434840"/>
            <a:ext cx="11887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>
                <a:solidFill>
                  <a:srgbClr val="0EA5E9"/>
                </a:solidFill>
                <a:latin typeface="Aptos"/>
              </a:rPr>
              <a:t>↓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1828800" y="4846320"/>
            <a:ext cx="8503920" cy="594360"/>
          </a:xfrm>
          <a:prstGeom prst="roundRect">
            <a:avLst/>
          </a:prstGeom>
          <a:solidFill>
            <a:srgbClr val="FFFFFF"/>
          </a:solidFill>
          <a:ln>
            <a:solidFill>
              <a:srgbClr val="0EA5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1920240" y="4919472"/>
            <a:ext cx="83210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700" b="1">
                <a:solidFill>
                  <a:srgbClr val="192D4B"/>
                </a:solidFill>
                <a:latin typeface="Aptos"/>
              </a:rPr>
              <a:t>JSON DATA FILES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14400" y="5806440"/>
            <a:ext cx="103327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0">
                <a:solidFill>
                  <a:srgbClr val="1F2937"/>
                </a:solidFill>
                <a:latin typeface="Aptos"/>
              </a:rPr>
              <a:t>Main Modules: Authentication • Book Management • Member Management • Issue/Return • Fine Management • Reports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94360" y="6446520"/>
            <a:ext cx="7772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64748B"/>
                </a:solidFill>
                <a:latin typeface="Aptos"/>
              </a:rPr>
              <a:t>Library Management System • Python + JSON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972800" y="6446520"/>
            <a:ext cx="6400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>
                <a:solidFill>
                  <a:srgbClr val="64748B"/>
                </a:solidFill>
                <a:latin typeface="Aptos"/>
              </a:rPr>
              <a:t>4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8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94360" y="438912"/>
            <a:ext cx="109728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700" b="1">
                <a:solidFill>
                  <a:srgbClr val="192D4B"/>
                </a:solidFill>
                <a:latin typeface="Aptos"/>
              </a:rPr>
              <a:t>Technologies &amp; Data Storage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1325880"/>
            <a:ext cx="106070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>
                <a:solidFill>
                  <a:srgbClr val="2563EB"/>
                </a:solidFill>
                <a:latin typeface="Aptos"/>
              </a:rPr>
              <a:t>TECHNOLOGIES USED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60120" y="1709928"/>
            <a:ext cx="1014984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1F2937"/>
                </a:solidFill>
                <a:latin typeface="Aptos"/>
              </a:rPr>
              <a:t>• Python — Application development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60120" y="2148839"/>
            <a:ext cx="1014984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1F2937"/>
                </a:solidFill>
                <a:latin typeface="Aptos"/>
              </a:rPr>
              <a:t>• JSON — Data storage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60120" y="2587751"/>
            <a:ext cx="1014984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1F2937"/>
                </a:solidFill>
                <a:latin typeface="Aptos"/>
              </a:rPr>
              <a:t>• VS Code — Development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60120" y="3026663"/>
            <a:ext cx="1014984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1F2937"/>
                </a:solidFill>
                <a:latin typeface="Aptos"/>
              </a:rPr>
              <a:t>• datetime — Due dates and fines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60120" y="3465575"/>
            <a:ext cx="1014984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1F2937"/>
                </a:solidFill>
                <a:latin typeface="Aptos"/>
              </a:rPr>
              <a:t>• re — Email/phone validation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60120" y="3904487"/>
            <a:ext cx="1014984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1F2937"/>
                </a:solidFill>
                <a:latin typeface="Aptos"/>
              </a:rPr>
              <a:t>• os — File and screen handling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7240" y="4453128"/>
            <a:ext cx="106070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>
                <a:solidFill>
                  <a:srgbClr val="2563EB"/>
                </a:solidFill>
                <a:latin typeface="Aptos"/>
              </a:rPr>
              <a:t>DATA FILES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60120" y="4837176"/>
            <a:ext cx="1014984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1F2937"/>
                </a:solidFill>
                <a:latin typeface="Aptos"/>
              </a:rPr>
              <a:t>• books.json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60120" y="5276088"/>
            <a:ext cx="1014984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1F2937"/>
                </a:solidFill>
                <a:latin typeface="Aptos"/>
              </a:rPr>
              <a:t>• members.json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60120" y="5715000"/>
            <a:ext cx="1014984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1F2937"/>
                </a:solidFill>
                <a:latin typeface="Aptos"/>
              </a:rPr>
              <a:t>• transactions.json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94360" y="6446520"/>
            <a:ext cx="7772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64748B"/>
                </a:solidFill>
                <a:latin typeface="Aptos"/>
              </a:rPr>
              <a:t>Library Management System • Python + JSON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972800" y="6446520"/>
            <a:ext cx="6400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>
                <a:solidFill>
                  <a:srgbClr val="64748B"/>
                </a:solidFill>
                <a:latin typeface="Aptos"/>
              </a:rPr>
              <a:t>5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8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94360" y="438912"/>
            <a:ext cx="109728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700" b="1">
                <a:solidFill>
                  <a:srgbClr val="192D4B"/>
                </a:solidFill>
                <a:latin typeface="Aptos"/>
              </a:rPr>
              <a:t>Fine Calculation &amp; Dashboard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1325880"/>
            <a:ext cx="106070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>
                <a:solidFill>
                  <a:srgbClr val="2563EB"/>
                </a:solidFill>
                <a:latin typeface="Aptos"/>
              </a:rPr>
              <a:t>FINE CALCULATION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60120" y="1709928"/>
            <a:ext cx="1014984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1F2937"/>
                </a:solidFill>
                <a:latin typeface="Aptos"/>
              </a:rPr>
              <a:t>• Loan period: 14 days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60120" y="2148839"/>
            <a:ext cx="1014984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1F2937"/>
                </a:solidFill>
                <a:latin typeface="Aptos"/>
              </a:rPr>
              <a:t>• Fine: ₹5 per overdue day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60120" y="2697479"/>
            <a:ext cx="1014984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1F2937"/>
                </a:solidFill>
                <a:latin typeface="Aptos"/>
              </a:rPr>
              <a:t>Fine = Overdue Days × ₹5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3246120"/>
            <a:ext cx="106070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>
                <a:solidFill>
                  <a:srgbClr val="2563EB"/>
                </a:solidFill>
                <a:latin typeface="Aptos"/>
              </a:rPr>
              <a:t>DASHBOARD DISPLAYS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60120" y="3630168"/>
            <a:ext cx="1014984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1F2937"/>
                </a:solidFill>
                <a:latin typeface="Aptos"/>
              </a:rPr>
              <a:t>• Total books  • Available books  • Issued books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60120" y="4069079"/>
            <a:ext cx="1014984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1F2937"/>
                </a:solidFill>
                <a:latin typeface="Aptos"/>
              </a:rPr>
              <a:t>• Total members  • Active members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60120" y="4507992"/>
            <a:ext cx="1014984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1F2937"/>
                </a:solidFill>
                <a:latin typeface="Aptos"/>
              </a:rPr>
              <a:t>• Overdue books  • Current and collected fines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94360" y="6446520"/>
            <a:ext cx="7772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64748B"/>
                </a:solidFill>
                <a:latin typeface="Aptos"/>
              </a:rPr>
              <a:t>Library Management System • Python + JSON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972800" y="6446520"/>
            <a:ext cx="6400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>
                <a:solidFill>
                  <a:srgbClr val="64748B"/>
                </a:solidFill>
                <a:latin typeface="Aptos"/>
              </a:rPr>
              <a:t>6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8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94360" y="438912"/>
            <a:ext cx="109728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700" b="1">
                <a:solidFill>
                  <a:srgbClr val="192D4B"/>
                </a:solidFill>
                <a:latin typeface="Aptos"/>
              </a:rPr>
              <a:t>Conclusion &amp; Future Scope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1325880"/>
            <a:ext cx="106070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>
                <a:solidFill>
                  <a:srgbClr val="2563EB"/>
                </a:solidFill>
                <a:latin typeface="Aptos"/>
              </a:rPr>
              <a:t>CONCLUSION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60120" y="1709928"/>
            <a:ext cx="1014984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1F2937"/>
                </a:solidFill>
                <a:latin typeface="Aptos"/>
              </a:rPr>
              <a:t>The Library Management System provides a simple digital solution for: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60120" y="2148839"/>
            <a:ext cx="1014984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1F2937"/>
                </a:solidFill>
                <a:latin typeface="Aptos"/>
              </a:rPr>
              <a:t>• Book management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60120" y="2587751"/>
            <a:ext cx="1014984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1F2937"/>
                </a:solidFill>
                <a:latin typeface="Aptos"/>
              </a:rPr>
              <a:t>• Member management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60120" y="3026663"/>
            <a:ext cx="1014984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1F2937"/>
                </a:solidFill>
                <a:latin typeface="Aptos"/>
              </a:rPr>
              <a:t>• Book issue/return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60120" y="3465575"/>
            <a:ext cx="1014984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1F2937"/>
                </a:solidFill>
                <a:latin typeface="Aptos"/>
              </a:rPr>
              <a:t>• Automatic fine calculation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60120" y="3904487"/>
            <a:ext cx="1014984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1F2937"/>
                </a:solidFill>
                <a:latin typeface="Aptos"/>
              </a:rPr>
              <a:t>• Transaction tracking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60120" y="4343400"/>
            <a:ext cx="1014984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1F2937"/>
                </a:solidFill>
                <a:latin typeface="Aptos"/>
              </a:rPr>
              <a:t>• Overdue monitoring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77240" y="4892040"/>
            <a:ext cx="106070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>
                <a:solidFill>
                  <a:srgbClr val="2563EB"/>
                </a:solidFill>
                <a:latin typeface="Aptos"/>
              </a:rPr>
              <a:t>FUTURE SCOPE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60120" y="5276088"/>
            <a:ext cx="1014984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1F2937"/>
                </a:solidFill>
                <a:latin typeface="Aptos"/>
              </a:rPr>
              <a:t>• Tkinter GUI  • MySQL/SQLite database  • Web application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60120" y="5715000"/>
            <a:ext cx="1014984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1F2937"/>
                </a:solidFill>
                <a:latin typeface="Aptos"/>
              </a:rPr>
              <a:t>• Barcode/QR scanning  • Email notifications  • Cloud storage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94360" y="6446520"/>
            <a:ext cx="7772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64748B"/>
                </a:solidFill>
                <a:latin typeface="Aptos"/>
              </a:rPr>
              <a:t>Library Management System • Python + JSON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972800" y="6446520"/>
            <a:ext cx="6400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>
                <a:solidFill>
                  <a:srgbClr val="64748B"/>
                </a:solidFill>
                <a:latin typeface="Aptos"/>
              </a:rPr>
              <a:t>7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3</TotalTime>
  <Words>481</Words>
  <Application>Microsoft Office PowerPoint</Application>
  <PresentationFormat>Widescreen</PresentationFormat>
  <Paragraphs>96</Paragraphs>
  <Slides>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3" baseType="lpstr">
      <vt:lpstr>Aptos</vt:lpstr>
      <vt:lpstr>Arial</vt:lpstr>
      <vt:lpstr>Calibri</vt:lpstr>
      <vt:lpstr>Times New Roman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Asus Tuf</dc:creator>
  <cp:keywords/>
  <dc:description>generated using python-pptx</dc:description>
  <cp:lastModifiedBy>Kushab Bawankar</cp:lastModifiedBy>
  <cp:revision>2</cp:revision>
  <dcterms:created xsi:type="dcterms:W3CDTF">2013-01-27T09:14:16Z</dcterms:created>
  <dcterms:modified xsi:type="dcterms:W3CDTF">2026-09-21T03:39:05Z</dcterms:modified>
  <cp:category/>
</cp:coreProperties>
</file>